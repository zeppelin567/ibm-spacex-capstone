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6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9cb4f6995f42f2" /><Relationship Type="http://schemas.openxmlformats.org/officeDocument/2006/relationships/extended-properties" Target="/docProps/app.xml" Id="R32cc963d5ff34e0e" /><Relationship Type="http://schemas.openxmlformats.org/officeDocument/2006/relationships/officeDocument" Target="/ppt/presentation.xml" Id="R783c3ff757c84b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e8312f51704904"/>
  </p:sldMasterIdLst>
  <p:notesMasterIdLst>
    <p:notesMasterId xmlns:r="http://schemas.openxmlformats.org/officeDocument/2006/relationships" r:id="R7ccd1b8e667a4746"/>
  </p:notesMasterIdLst>
  <p:sldIdLst>
    <p:sldId xmlns:r="http://schemas.openxmlformats.org/officeDocument/2006/relationships" id="256" r:id="Recab2e0deacd4092"/>
    <p:sldId xmlns:r="http://schemas.openxmlformats.org/officeDocument/2006/relationships" id="257" r:id="Rbf03b9bca63f4728"/>
    <p:sldId xmlns:r="http://schemas.openxmlformats.org/officeDocument/2006/relationships" id="258" r:id="R90a183359b89407c"/>
    <p:sldId xmlns:r="http://schemas.openxmlformats.org/officeDocument/2006/relationships" id="259" r:id="Rc53dc194a62f49c0"/>
    <p:sldId xmlns:r="http://schemas.openxmlformats.org/officeDocument/2006/relationships" id="260" r:id="R9181f1c651634502"/>
    <p:sldId xmlns:r="http://schemas.openxmlformats.org/officeDocument/2006/relationships" id="261" r:id="R6387b9fddbcf417a"/>
    <p:sldId xmlns:r="http://schemas.openxmlformats.org/officeDocument/2006/relationships" id="262" r:id="Rb1e553ca9afc4f10"/>
    <p:sldId xmlns:r="http://schemas.openxmlformats.org/officeDocument/2006/relationships" id="263" r:id="R6cd991ce21664a0a"/>
    <p:sldId xmlns:r="http://schemas.openxmlformats.org/officeDocument/2006/relationships" id="264" r:id="R59b18a5bebdb4fc9"/>
    <p:sldId xmlns:r="http://schemas.openxmlformats.org/officeDocument/2006/relationships" id="265" r:id="Raf7aaa020b71445d"/>
    <p:sldId xmlns:r="http://schemas.openxmlformats.org/officeDocument/2006/relationships" id="266" r:id="R575dbc8c546a46ca"/>
    <p:sldId xmlns:r="http://schemas.openxmlformats.org/officeDocument/2006/relationships" id="267" r:id="R4e45c852dddf4444"/>
    <p:sldId xmlns:r="http://schemas.openxmlformats.org/officeDocument/2006/relationships" id="268" r:id="Rde549855672142d2"/>
    <p:sldId xmlns:r="http://schemas.openxmlformats.org/officeDocument/2006/relationships" id="269" r:id="Rcf07c57b29e04e6f"/>
    <p:sldId xmlns:r="http://schemas.openxmlformats.org/officeDocument/2006/relationships" id="270" r:id="Rc0cb7e2aa3bc4579"/>
    <p:sldId xmlns:r="http://schemas.openxmlformats.org/officeDocument/2006/relationships" id="271" r:id="Rb962c2c1eaf14eca"/>
    <p:sldId xmlns:r="http://schemas.openxmlformats.org/officeDocument/2006/relationships" id="272" r:id="Rc0d8383d83874fab"/>
    <p:sldId xmlns:r="http://schemas.openxmlformats.org/officeDocument/2006/relationships" id="273" r:id="R731566664a52403d"/>
    <p:sldId xmlns:r="http://schemas.openxmlformats.org/officeDocument/2006/relationships" id="274" r:id="Rb93d159ab7814c29"/>
    <p:sldId xmlns:r="http://schemas.openxmlformats.org/officeDocument/2006/relationships" id="275" r:id="Re42bf46eeb794976"/>
    <p:sldId xmlns:r="http://schemas.openxmlformats.org/officeDocument/2006/relationships" id="276" r:id="R6c0185f2be6344ff"/>
    <p:sldId xmlns:r="http://schemas.openxmlformats.org/officeDocument/2006/relationships" id="277" r:id="R61ecb2c655a94393"/>
    <p:sldId xmlns:r="http://schemas.openxmlformats.org/officeDocument/2006/relationships" id="278" r:id="Raa3729b67d834495"/>
    <p:sldId xmlns:r="http://schemas.openxmlformats.org/officeDocument/2006/relationships" id="279" r:id="R9d099a749dc74936"/>
    <p:sldId xmlns:r="http://schemas.openxmlformats.org/officeDocument/2006/relationships" id="280" r:id="R2b850b610e534867"/>
    <p:sldId xmlns:r="http://schemas.openxmlformats.org/officeDocument/2006/relationships" id="281" r:id="R5fde2aa0176945c7"/>
    <p:sldId xmlns:r="http://schemas.openxmlformats.org/officeDocument/2006/relationships" id="282" r:id="R245b536bcb4d4a24"/>
    <p:sldId xmlns:r="http://schemas.openxmlformats.org/officeDocument/2006/relationships" id="283" r:id="Rcaa9d161153540d2"/>
    <p:sldId xmlns:r="http://schemas.openxmlformats.org/officeDocument/2006/relationships" id="284" r:id="R664d2a0b35724c9b"/>
    <p:sldId xmlns:r="http://schemas.openxmlformats.org/officeDocument/2006/relationships" id="285" r:id="R4744579e067d48a1"/>
    <p:sldId xmlns:r="http://schemas.openxmlformats.org/officeDocument/2006/relationships" id="286" r:id="Rd7ab3c6ca6ff4dbb"/>
    <p:sldId xmlns:r="http://schemas.openxmlformats.org/officeDocument/2006/relationships" id="287" r:id="Re28c01cf561c47d6"/>
    <p:sldId xmlns:r="http://schemas.openxmlformats.org/officeDocument/2006/relationships" id="288" r:id="R24163ca63d1847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e1381fc3ed474e" /><Relationship Type="http://schemas.openxmlformats.org/officeDocument/2006/relationships/slideMaster" Target="/ppt/slideMasters/slideMaster1.xml" Id="R0ee8312f51704904" /><Relationship Type="http://schemas.openxmlformats.org/officeDocument/2006/relationships/notesMaster" Target="/ppt/notesMasters/notesMaster1.xml" Id="R7ccd1b8e667a4746" /><Relationship Type="http://schemas.openxmlformats.org/officeDocument/2006/relationships/presProps" Target="/ppt/presProps.xml" Id="R81241f3ce3944b32" /><Relationship Type="http://schemas.openxmlformats.org/officeDocument/2006/relationships/tableStyles" Target="/ppt/tableStyles.xml" Id="R70d32425ab6f4bb9" /><Relationship Type="http://schemas.openxmlformats.org/officeDocument/2006/relationships/slide" Target="/ppt/slides/slide1.xml" Id="Recab2e0deacd4092" /><Relationship Type="http://schemas.openxmlformats.org/officeDocument/2006/relationships/slide" Target="/ppt/slides/slide2.xml" Id="Rbf03b9bca63f4728" /><Relationship Type="http://schemas.openxmlformats.org/officeDocument/2006/relationships/slide" Target="/ppt/slides/slide3.xml" Id="R90a183359b89407c" /><Relationship Type="http://schemas.openxmlformats.org/officeDocument/2006/relationships/slide" Target="/ppt/slides/slide4.xml" Id="Rc53dc194a62f49c0" /><Relationship Type="http://schemas.openxmlformats.org/officeDocument/2006/relationships/slide" Target="/ppt/slides/slide5.xml" Id="R9181f1c651634502" /><Relationship Type="http://schemas.openxmlformats.org/officeDocument/2006/relationships/slide" Target="/ppt/slides/slide6.xml" Id="R6387b9fddbcf417a" /><Relationship Type="http://schemas.openxmlformats.org/officeDocument/2006/relationships/slide" Target="/ppt/slides/slide7.xml" Id="Rb1e553ca9afc4f10" /><Relationship Type="http://schemas.openxmlformats.org/officeDocument/2006/relationships/slide" Target="/ppt/slides/slide8.xml" Id="R6cd991ce21664a0a" /><Relationship Type="http://schemas.openxmlformats.org/officeDocument/2006/relationships/slide" Target="/ppt/slides/slide9.xml" Id="R59b18a5bebdb4fc9" /><Relationship Type="http://schemas.openxmlformats.org/officeDocument/2006/relationships/slide" Target="/ppt/slides/slide10.xml" Id="Raf7aaa020b71445d" /><Relationship Type="http://schemas.openxmlformats.org/officeDocument/2006/relationships/slide" Target="/ppt/slides/slide11.xml" Id="R575dbc8c546a46ca" /><Relationship Type="http://schemas.openxmlformats.org/officeDocument/2006/relationships/slide" Target="/ppt/slides/slide12.xml" Id="R4e45c852dddf4444" /><Relationship Type="http://schemas.openxmlformats.org/officeDocument/2006/relationships/slide" Target="/ppt/slides/slide13.xml" Id="Rde549855672142d2" /><Relationship Type="http://schemas.openxmlformats.org/officeDocument/2006/relationships/slide" Target="/ppt/slides/slide14.xml" Id="Rcf07c57b29e04e6f" /><Relationship Type="http://schemas.openxmlformats.org/officeDocument/2006/relationships/slide" Target="/ppt/slides/slide15.xml" Id="Rc0cb7e2aa3bc4579" /><Relationship Type="http://schemas.openxmlformats.org/officeDocument/2006/relationships/slide" Target="/ppt/slides/slide16.xml" Id="Rb962c2c1eaf14eca" /><Relationship Type="http://schemas.openxmlformats.org/officeDocument/2006/relationships/slide" Target="/ppt/slides/slide17.xml" Id="Rc0d8383d83874fab" /><Relationship Type="http://schemas.openxmlformats.org/officeDocument/2006/relationships/slide" Target="/ppt/slides/slide18.xml" Id="R731566664a52403d" /><Relationship Type="http://schemas.openxmlformats.org/officeDocument/2006/relationships/slide" Target="/ppt/slides/slide19.xml" Id="Rb93d159ab7814c29" /><Relationship Type="http://schemas.openxmlformats.org/officeDocument/2006/relationships/slide" Target="/ppt/slides/slide20.xml" Id="Re42bf46eeb794976" /><Relationship Type="http://schemas.openxmlformats.org/officeDocument/2006/relationships/slide" Target="/ppt/slides/slide21.xml" Id="R6c0185f2be6344ff" /><Relationship Type="http://schemas.openxmlformats.org/officeDocument/2006/relationships/slide" Target="/ppt/slides/slide22.xml" Id="R61ecb2c655a94393" /><Relationship Type="http://schemas.openxmlformats.org/officeDocument/2006/relationships/slide" Target="/ppt/slides/slide23.xml" Id="Raa3729b67d834495" /><Relationship Type="http://schemas.openxmlformats.org/officeDocument/2006/relationships/slide" Target="/ppt/slides/slide24.xml" Id="R9d099a749dc74936" /><Relationship Type="http://schemas.openxmlformats.org/officeDocument/2006/relationships/slide" Target="/ppt/slides/slide25.xml" Id="R2b850b610e534867" /><Relationship Type="http://schemas.openxmlformats.org/officeDocument/2006/relationships/slide" Target="/ppt/slides/slide26.xml" Id="R5fde2aa0176945c7" /><Relationship Type="http://schemas.openxmlformats.org/officeDocument/2006/relationships/slide" Target="/ppt/slides/slide27.xml" Id="R245b536bcb4d4a24" /><Relationship Type="http://schemas.openxmlformats.org/officeDocument/2006/relationships/slide" Target="/ppt/slides/slide28.xml" Id="Rcaa9d161153540d2" /><Relationship Type="http://schemas.openxmlformats.org/officeDocument/2006/relationships/slide" Target="/ppt/slides/slide29.xml" Id="R664d2a0b35724c9b" /><Relationship Type="http://schemas.openxmlformats.org/officeDocument/2006/relationships/slide" Target="/ppt/slides/slide30.xml" Id="R4744579e067d48a1" /><Relationship Type="http://schemas.openxmlformats.org/officeDocument/2006/relationships/slide" Target="/ppt/slides/slide31.xml" Id="Rd7ab3c6ca6ff4dbb" /><Relationship Type="http://schemas.openxmlformats.org/officeDocument/2006/relationships/slide" Target="/ppt/slides/slide32.xml" Id="Re28c01cf561c47d6" /><Relationship Type="http://schemas.openxmlformats.org/officeDocument/2006/relationships/slide" Target="/ppt/slides/slide33.xml" Id="R24163ca63d1847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c15be31a0944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cc4c39a18d4c71" /><Relationship Type="http://schemas.openxmlformats.org/officeDocument/2006/relationships/notesMaster" Target="/ppt/notesMasters/notesMaster1.xml" Id="R1721e8457d1a42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c7ca61f12e4a3c" /><Relationship Type="http://schemas.openxmlformats.org/officeDocument/2006/relationships/notesMaster" Target="/ppt/notesMasters/notesMaster1.xml" Id="R0d28f7ad877347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11c67161664c5f" /><Relationship Type="http://schemas.openxmlformats.org/officeDocument/2006/relationships/notesMaster" Target="/ppt/notesMasters/notesMaster1.xml" Id="Rc3c428e026eb47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14ee0c22a14492" /><Relationship Type="http://schemas.openxmlformats.org/officeDocument/2006/relationships/notesMaster" Target="/ppt/notesMasters/notesMaster1.xml" Id="R53699d3e08d246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e1ab0e792c4a43" /><Relationship Type="http://schemas.openxmlformats.org/officeDocument/2006/relationships/notesMaster" Target="/ppt/notesMasters/notesMaster1.xml" Id="R161cad677a3244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f5803ab6c84ce3" /><Relationship Type="http://schemas.openxmlformats.org/officeDocument/2006/relationships/notesMaster" Target="/ppt/notesMasters/notesMaster1.xml" Id="R19f07c2311024d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9349a7ad57423f" /><Relationship Type="http://schemas.openxmlformats.org/officeDocument/2006/relationships/notesMaster" Target="/ppt/notesMasters/notesMaster1.xml" Id="R151d0d20ea674f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10e3d9ce104365" /><Relationship Type="http://schemas.openxmlformats.org/officeDocument/2006/relationships/notesMaster" Target="/ppt/notesMasters/notesMaster1.xml" Id="R8a22aa462f9547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ce81961c3948cc" /><Relationship Type="http://schemas.openxmlformats.org/officeDocument/2006/relationships/notesMaster" Target="/ppt/notesMasters/notesMaster1.xml" Id="Rd13b5da4338946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67021f8d714fee" /><Relationship Type="http://schemas.openxmlformats.org/officeDocument/2006/relationships/notesMaster" Target="/ppt/notesMasters/notesMaster1.xml" Id="Reb3f883611a34f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e62a19397b44e6" /><Relationship Type="http://schemas.openxmlformats.org/officeDocument/2006/relationships/notesMaster" Target="/ppt/notesMasters/notesMaster1.xml" Id="R29d0b5442c4440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204c15bee54fe6" /><Relationship Type="http://schemas.openxmlformats.org/officeDocument/2006/relationships/notesMaster" Target="/ppt/notesMasters/notesMaster1.xml" Id="R6690767503b343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e3c7dd1f2dc4cbe" /><Relationship Type="http://schemas.openxmlformats.org/officeDocument/2006/relationships/notesMaster" Target="/ppt/notesMasters/notesMaster1.xml" Id="R642556df97594f8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6b8a24d53b4093" /><Relationship Type="http://schemas.openxmlformats.org/officeDocument/2006/relationships/notesMaster" Target="/ppt/notesMasters/notesMaster1.xml" Id="R65dbf41bc0064f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5dfeb5fc897483c" /><Relationship Type="http://schemas.openxmlformats.org/officeDocument/2006/relationships/notesMaster" Target="/ppt/notesMasters/notesMaster1.xml" Id="Ra28b17739c054a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08197e6d00645cd" /><Relationship Type="http://schemas.openxmlformats.org/officeDocument/2006/relationships/notesMaster" Target="/ppt/notesMasters/notesMaster1.xml" Id="R6a8e0d8ec07f47f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331186420524c49" /><Relationship Type="http://schemas.openxmlformats.org/officeDocument/2006/relationships/notesMaster" Target="/ppt/notesMasters/notesMaster1.xml" Id="R8e72329f753b42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2dde38171fe44db" /><Relationship Type="http://schemas.openxmlformats.org/officeDocument/2006/relationships/notesMaster" Target="/ppt/notesMasters/notesMaster1.xml" Id="R4ad635f2f4434a9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427fce0156f4222" /><Relationship Type="http://schemas.openxmlformats.org/officeDocument/2006/relationships/notesMaster" Target="/ppt/notesMasters/notesMaster1.xml" Id="Rad7f759afb51484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0e9780b37dd4ad8" /><Relationship Type="http://schemas.openxmlformats.org/officeDocument/2006/relationships/notesMaster" Target="/ppt/notesMasters/notesMaster1.xml" Id="R6d7c77d9883b43c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7c5803789d94982" /><Relationship Type="http://schemas.openxmlformats.org/officeDocument/2006/relationships/notesMaster" Target="/ppt/notesMasters/notesMaster1.xml" Id="Ra51981cdb46a491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7bb1d2636494312" /><Relationship Type="http://schemas.openxmlformats.org/officeDocument/2006/relationships/notesMaster" Target="/ppt/notesMasters/notesMaster1.xml" Id="Rd25fae00a7b9430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5308ff9d6a84217" /><Relationship Type="http://schemas.openxmlformats.org/officeDocument/2006/relationships/notesMaster" Target="/ppt/notesMasters/notesMaster1.xml" Id="R38a6dfe8e1bc41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8ad8e7ad804255" /><Relationship Type="http://schemas.openxmlformats.org/officeDocument/2006/relationships/notesMaster" Target="/ppt/notesMasters/notesMaster1.xml" Id="R26972685c140401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5a398488db54005" /><Relationship Type="http://schemas.openxmlformats.org/officeDocument/2006/relationships/notesMaster" Target="/ppt/notesMasters/notesMaster1.xml" Id="Rc5b81ab9088a4a1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7790ef9cf9f4b0f" /><Relationship Type="http://schemas.openxmlformats.org/officeDocument/2006/relationships/notesMaster" Target="/ppt/notesMasters/notesMaster1.xml" Id="R5d113fa3f80d409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a81ff6fea8d446a" /><Relationship Type="http://schemas.openxmlformats.org/officeDocument/2006/relationships/notesMaster" Target="/ppt/notesMasters/notesMaster1.xml" Id="Rc4d00b6b549443d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d1fb7b2625f4caa" /><Relationship Type="http://schemas.openxmlformats.org/officeDocument/2006/relationships/notesMaster" Target="/ppt/notesMasters/notesMaster1.xml" Id="Rf9ef11855c15424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88e71cfeb1d4112" /><Relationship Type="http://schemas.openxmlformats.org/officeDocument/2006/relationships/notesMaster" Target="/ppt/notesMasters/notesMaster1.xml" Id="R79436337e5b9469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225368fef08406f" /><Relationship Type="http://schemas.openxmlformats.org/officeDocument/2006/relationships/notesMaster" Target="/ppt/notesMasters/notesMaster1.xml" Id="R352636c31864490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9585731f00e4313" /><Relationship Type="http://schemas.openxmlformats.org/officeDocument/2006/relationships/notesMaster" Target="/ppt/notesMasters/notesMaster1.xml" Id="Re144d3b2558f4b1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172973ed9244ef5" /><Relationship Type="http://schemas.openxmlformats.org/officeDocument/2006/relationships/notesMaster" Target="/ppt/notesMasters/notesMaster1.xml" Id="R9756eab363f3463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9929e2fa2d24faa" /><Relationship Type="http://schemas.openxmlformats.org/officeDocument/2006/relationships/notesMaster" Target="/ppt/notesMasters/notesMaster1.xml" Id="Rf51a85ca25bf4e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https://github.com/Zeppelin567/ibm-spacex-capstone/blob/main/spacex_dash_app.py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https://github.com/Zeppelin567/ibm-spacex-capstone/blob/main/spacex_dash_app.py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https://github.com/Zeppelin567/ibm-spacex-capstone/blob/main/spacex_dash_app.py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https://github.com/Zeppelin567/ibm-spacex-capstone/blob/main/spacex_dash_app.py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>https://github.com/Zeppelin567/ibm-spacex-capstone/blob/main/SpaceX_Capstone_Analysis.ipynb</a:t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IBM Skills Network course snapshots, accessed 21 Oct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IBM datasets and lab instructions. Wikipedia revision oldid=1027686922. Folium basemaps © OpenStreetMap contributors.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API: https://cf-courses-data.s3.us.cloud-object-storage.appdomain.cloud/IBM-DS0321EN-SkillsNetwork/datasets/dataset_part_1.csv</a:t>
            </a:r>
          </a:p>
          <a:p xmlns:a="http://schemas.openxmlformats.org/drawingml/2006/main">
            <a:r>
              <a:t>SQL: https://cf-courses-data.s3.us.cloud-object-storage.appdomain.cloud/IBM-DS0321EN-SkillsNetwork/labs/module_2/data/Spacex.csv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f53794a9764e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9c6f6ebc343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c6e8201a414d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bbd3ab31d42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9dcc29c6c34f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bbb9825554e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A148F8-8ADF-4104-B349-61B40BAA18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3533678-9408-4F85-A723-CDB5FCE801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BB12CA1-1407-4996-A688-2B7BE0C210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1FC48C-2514-49E4-98D4-2C6481327C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0664936-C007-4E73-91FE-17ED13262F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971D19-C9CE-49E7-BB1A-DC9D2F3A92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C0DCAE9-EC4D-40E0-A4FA-BB95747297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184BA3-331A-4288-9DC2-95198262E5D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D12456-A344-47AB-B65E-65245CA5B8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A9589C-2025-410A-92B4-28C4E74CDD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7d387ff33b4f38" /><Relationship Type="http://schemas.openxmlformats.org/officeDocument/2006/relationships/slideLayout" Target="/ppt/slideLayouts/slideLayout1.xml" Id="R35ce50872bc14dbe" /><Relationship Type="http://schemas.openxmlformats.org/officeDocument/2006/relationships/slideLayout" Target="/ppt/slideLayouts/slideLayout2.xml" Id="Rb93de58fcf7f4928" /><Relationship Type="http://schemas.openxmlformats.org/officeDocument/2006/relationships/slideLayout" Target="/ppt/slideLayouts/slideLayout3.xml" Id="Rfc135b8fa7d14815" /><Relationship Type="http://schemas.openxmlformats.org/officeDocument/2006/relationships/slideLayout" Target="/ppt/slideLayouts/slideLayout4.xml" Id="Rffcb907da7d14088" /><Relationship Type="http://schemas.openxmlformats.org/officeDocument/2006/relationships/slideLayout" Target="/ppt/slideLayouts/slideLayout5.xml" Id="Re8ad7d24a48c4a83" /><Relationship Type="http://schemas.openxmlformats.org/officeDocument/2006/relationships/slideLayout" Target="/ppt/slideLayouts/slideLayout6.xml" Id="Rbd92ce9f15b04f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ce50872bc14dbe"/>
    <p:sldLayoutId xmlns:r="http://schemas.openxmlformats.org/officeDocument/2006/relationships" id="2147483650" r:id="Rb93de58fcf7f4928"/>
    <p:sldLayoutId xmlns:r="http://schemas.openxmlformats.org/officeDocument/2006/relationships" id="2147483651" r:id="Rfc135b8fa7d14815"/>
    <p:sldLayoutId xmlns:r="http://schemas.openxmlformats.org/officeDocument/2006/relationships" id="2147483652" r:id="Rffcb907da7d14088"/>
    <p:sldLayoutId xmlns:r="http://schemas.openxmlformats.org/officeDocument/2006/relationships" id="2147483653" r:id="Re8ad7d24a48c4a83"/>
    <p:sldLayoutId xmlns:r="http://schemas.openxmlformats.org/officeDocument/2006/relationships" id="2147483654" r:id="Rbd92ce9f15b04f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07837511154770" /><Relationship Type="http://schemas.openxmlformats.org/officeDocument/2006/relationships/notesSlide" Target="/ppt/notesSlides/notesSlide1.xml" Id="Rfbc23bb5769c48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5510119f54750" /><Relationship Type="http://schemas.openxmlformats.org/officeDocument/2006/relationships/notesSlide" Target="/ppt/notesSlides/notesSlide2.xml" Id="R6d891ec1496740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484da0883640a3" /><Relationship Type="http://schemas.openxmlformats.org/officeDocument/2006/relationships/notesSlide" Target="/ppt/notesSlides/notesSlide3.xml" Id="R504c7dd67d6949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433d02e23d4b45" /><Relationship Type="http://schemas.openxmlformats.org/officeDocument/2006/relationships/notesSlide" Target="/ppt/notesSlides/notesSlide4.xml" Id="R5b06d50786c14a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e4a2ca226473e" /><Relationship Type="http://schemas.openxmlformats.org/officeDocument/2006/relationships/notesSlide" Target="/ppt/notesSlides/notesSlide5.xml" Id="R09397207f8aa41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c6b4e5cfcd4a92" /><Relationship Type="http://schemas.openxmlformats.org/officeDocument/2006/relationships/notesSlide" Target="/ppt/notesSlides/notesSlide6.xml" Id="R1387476490d24c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b220cb8e1645e5" /><Relationship Type="http://schemas.openxmlformats.org/officeDocument/2006/relationships/notesSlide" Target="/ppt/notesSlides/notesSlide7.xml" Id="R63d7deac893d4fb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330e48131d4106" /><Relationship Type="http://schemas.openxmlformats.org/officeDocument/2006/relationships/notesSlide" Target="/ppt/notesSlides/notesSlide8.xml" Id="Rbb71ffed118847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341286c0a2410a" /><Relationship Type="http://schemas.openxmlformats.org/officeDocument/2006/relationships/chart" Target="/ppt/slides/charts/chart1.xml" Id="R7887f2a72b1842db" /><Relationship Type="http://schemas.openxmlformats.org/officeDocument/2006/relationships/notesSlide" Target="/ppt/notesSlides/notesSlide9.xml" Id="R25b64c0f810c4d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653bdd92b64805" /><Relationship Type="http://schemas.openxmlformats.org/officeDocument/2006/relationships/chart" Target="/ppt/slides/charts/chart2.xml" Id="R4a31ac5462864387" /><Relationship Type="http://schemas.openxmlformats.org/officeDocument/2006/relationships/notesSlide" Target="/ppt/notesSlides/notesSlide10.xml" Id="R0abf14750d9140e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97dba2fc9d4141" /><Relationship Type="http://schemas.openxmlformats.org/officeDocument/2006/relationships/chart" Target="/ppt/slides/charts/chart3.xml" Id="R801c617e44084742" /><Relationship Type="http://schemas.openxmlformats.org/officeDocument/2006/relationships/notesSlide" Target="/ppt/notesSlides/notesSlide11.xml" Id="R8478f0a0978044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abe6fe56b4bfd" /><Relationship Type="http://schemas.openxmlformats.org/officeDocument/2006/relationships/chart" Target="/ppt/slides/charts/chart4.xml" Id="Rc684435b7661482d" /><Relationship Type="http://schemas.openxmlformats.org/officeDocument/2006/relationships/notesSlide" Target="/ppt/notesSlides/notesSlide12.xml" Id="R5bdf88967f914e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bfe6364f6944c6" /><Relationship Type="http://schemas.openxmlformats.org/officeDocument/2006/relationships/chart" Target="/ppt/slides/charts/chart5.xml" Id="R392d20e5dc2d400f" /><Relationship Type="http://schemas.openxmlformats.org/officeDocument/2006/relationships/notesSlide" Target="/ppt/notesSlides/notesSlide13.xml" Id="R9cbbfdeb78244d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448bd77e644f0b" /><Relationship Type="http://schemas.openxmlformats.org/officeDocument/2006/relationships/chart" Target="/ppt/slides/charts/chart6.xml" Id="Rbd7d5deeacb34c6d" /><Relationship Type="http://schemas.openxmlformats.org/officeDocument/2006/relationships/notesSlide" Target="/ppt/notesSlides/notesSlide14.xml" Id="Rad8d1fc523294b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5e1366d97c4a6c" /><Relationship Type="http://schemas.openxmlformats.org/officeDocument/2006/relationships/notesSlide" Target="/ppt/notesSlides/notesSlide15.xml" Id="Rff4492bf592a4f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6248adbdc46dd" /><Relationship Type="http://schemas.openxmlformats.org/officeDocument/2006/relationships/notesSlide" Target="/ppt/notesSlides/notesSlide16.xml" Id="R2b16dd697483409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fb922c3d614037" /><Relationship Type="http://schemas.openxmlformats.org/officeDocument/2006/relationships/notesSlide" Target="/ppt/notesSlides/notesSlide17.xml" Id="Rd4c18e2c24fd4a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4eb0e650a14cf8" /><Relationship Type="http://schemas.openxmlformats.org/officeDocument/2006/relationships/notesSlide" Target="/ppt/notesSlides/notesSlide18.xml" Id="R94f31ad794af4cb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fb963dadd4993" /><Relationship Type="http://schemas.openxmlformats.org/officeDocument/2006/relationships/notesSlide" Target="/ppt/notesSlides/notesSlide19.xml" Id="Rea551a8e8f24450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79c7ac0138484c" /><Relationship Type="http://schemas.openxmlformats.org/officeDocument/2006/relationships/notesSlide" Target="/ppt/notesSlides/notesSlide20.xml" Id="R0e44c0bb6a3b421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75f18f239e4805" /><Relationship Type="http://schemas.openxmlformats.org/officeDocument/2006/relationships/notesSlide" Target="/ppt/notesSlides/notesSlide21.xml" Id="R65bee8a76980427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3b53981efb49d2" /><Relationship Type="http://schemas.openxmlformats.org/officeDocument/2006/relationships/image" Target="/ppt/media/image.jpeg" Id="R23a81e9252c2430a" /><Relationship Type="http://schemas.openxmlformats.org/officeDocument/2006/relationships/notesSlide" Target="/ppt/notesSlides/notesSlide22.xml" Id="Rbe29960b1e224db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31677df0c24eb7" /><Relationship Type="http://schemas.openxmlformats.org/officeDocument/2006/relationships/image" Target="/ppt/media/image2.jpeg" Id="R53552a9bde264980" /><Relationship Type="http://schemas.openxmlformats.org/officeDocument/2006/relationships/notesSlide" Target="/ppt/notesSlides/notesSlide23.xml" Id="R3e9cbb67376249b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65baf34c12450f" /><Relationship Type="http://schemas.openxmlformats.org/officeDocument/2006/relationships/image" Target="/ppt/media/image3.jpeg" Id="R66219914398e43b6" /><Relationship Type="http://schemas.openxmlformats.org/officeDocument/2006/relationships/notesSlide" Target="/ppt/notesSlides/notesSlide24.xml" Id="R21b9d8b6421f4ce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f74202f95f4fbd" /><Relationship Type="http://schemas.openxmlformats.org/officeDocument/2006/relationships/notesSlide" Target="/ppt/notesSlides/notesSlide25.xml" Id="Ree6fd54c17d240d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2673815a6f48ef" /><Relationship Type="http://schemas.openxmlformats.org/officeDocument/2006/relationships/image" Target="/ppt/media/image4.jpeg" Id="R9d3bd2c37798428d" /><Relationship Type="http://schemas.openxmlformats.org/officeDocument/2006/relationships/notesSlide" Target="/ppt/notesSlides/notesSlide26.xml" Id="R9a30a4fa59e44e3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08cb5649be4ad7" /><Relationship Type="http://schemas.openxmlformats.org/officeDocument/2006/relationships/image" Target="/ppt/media/image5.jpeg" Id="R3316e482cb3f4462" /><Relationship Type="http://schemas.openxmlformats.org/officeDocument/2006/relationships/notesSlide" Target="/ppt/notesSlides/notesSlide27.xml" Id="R6ce82607fd4c46b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bb04f2f05d436a" /><Relationship Type="http://schemas.openxmlformats.org/officeDocument/2006/relationships/image" Target="/ppt/media/image6.jpeg" Id="R825cd62aaf3b4419" /><Relationship Type="http://schemas.openxmlformats.org/officeDocument/2006/relationships/notesSlide" Target="/ppt/notesSlides/notesSlide28.xml" Id="Rf33d1d1063a441e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e86cd47a3e44f4" /><Relationship Type="http://schemas.openxmlformats.org/officeDocument/2006/relationships/notesSlide" Target="/ppt/notesSlides/notesSlide29.xml" Id="R56dabca00a524b3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ca22aa6356485e" /><Relationship Type="http://schemas.openxmlformats.org/officeDocument/2006/relationships/notesSlide" Target="/ppt/notesSlides/notesSlide30.xml" Id="R4cc4ca19b8dc4c0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fa41f79b334a08" /><Relationship Type="http://schemas.openxmlformats.org/officeDocument/2006/relationships/image" Target="/ppt/media/image.png" Id="R1eed70a622d14282" /><Relationship Type="http://schemas.openxmlformats.org/officeDocument/2006/relationships/notesSlide" Target="/ppt/notesSlides/notesSlide31.xml" Id="Rb1bc0498f4084b1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2bb734563499c" /><Relationship Type="http://schemas.openxmlformats.org/officeDocument/2006/relationships/notesSlide" Target="/ppt/notesSlides/notesSlide32.xml" Id="R1e6003b47e1a4c8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06676decfe453f" /><Relationship Type="http://schemas.openxmlformats.org/officeDocument/2006/relationships/notesSlide" Target="/ppt/notesSlides/notesSlide33.xml" Id="R88db8deeb88848c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Unsuccessful</c:v>
          </c:tx>
          <c:marker>
            <c:symbol val="circle"/>
            <c:size val="6"/>
            <c:spPr>
              <a:solidFill xmlns:a="http://schemas.openxmlformats.org/drawingml/2006/main">
                <a:srgbClr val="D55E00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18</c:v>
                </c:pt>
                <c:pt idx="14">
                  <c:v>19</c:v>
                </c:pt>
                <c:pt idx="15">
                  <c:v>25</c:v>
                </c:pt>
                <c:pt idx="16">
                  <c:v>28</c:v>
                </c:pt>
                <c:pt idx="17">
                  <c:v>31</c:v>
                </c:pt>
                <c:pt idx="18">
                  <c:v>35</c:v>
                </c:pt>
                <c:pt idx="19">
                  <c:v>46</c:v>
                </c:pt>
                <c:pt idx="20">
                  <c:v>47</c:v>
                </c:pt>
                <c:pt idx="21">
                  <c:v>48</c:v>
                </c:pt>
                <c:pt idx="22">
                  <c:v>51</c:v>
                </c:pt>
                <c:pt idx="23">
                  <c:v>52</c:v>
                </c:pt>
                <c:pt idx="24">
                  <c:v>60</c:v>
                </c:pt>
                <c:pt idx="25">
                  <c:v>61</c:v>
                </c:pt>
                <c:pt idx="26">
                  <c:v>68</c:v>
                </c:pt>
                <c:pt idx="27">
                  <c:v>73</c:v>
                </c:pt>
                <c:pt idx="28">
                  <c:v>75</c:v>
                </c:pt>
                <c:pt idx="29">
                  <c:v>77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3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1</c:v>
                </c:pt>
                <c:pt idx="20">
                  <c:v>3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2</c:v>
                </c:pt>
              </c:numCache>
            </c:numRef>
          </c:yVal>
        </c:ser>
        <c:ser>
          <c:idx val="1"/>
          <c:order val="1"/>
          <c:tx>
            <c:v>Successful</c:v>
          </c:tx>
          <c:marker>
            <c:symbol val="circle"/>
            <c:size val="6"/>
            <c:spPr>
              <a:solidFill xmlns:a="http://schemas.openxmlformats.org/drawingml/2006/main">
                <a:srgbClr val="0072B2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7</c:v>
                </c:pt>
                <c:pt idx="1">
                  <c:v>8</c:v>
                </c:pt>
                <c:pt idx="2">
                  <c:v>13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22</c:v>
                </c:pt>
                <c:pt idx="7">
                  <c:v>23</c:v>
                </c:pt>
                <c:pt idx="8">
                  <c:v>24</c:v>
                </c:pt>
                <c:pt idx="9">
                  <c:v>26</c:v>
                </c:pt>
                <c:pt idx="10">
                  <c:v>27</c:v>
                </c:pt>
                <c:pt idx="11">
                  <c:v>29</c:v>
                </c:pt>
                <c:pt idx="12">
                  <c:v>30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36</c:v>
                </c:pt>
                <c:pt idx="17">
                  <c:v>37</c:v>
                </c:pt>
                <c:pt idx="18">
                  <c:v>38</c:v>
                </c:pt>
                <c:pt idx="19">
                  <c:v>39</c:v>
                </c:pt>
                <c:pt idx="20">
                  <c:v>40</c:v>
                </c:pt>
                <c:pt idx="21">
                  <c:v>41</c:v>
                </c:pt>
                <c:pt idx="22">
                  <c:v>42</c:v>
                </c:pt>
                <c:pt idx="23">
                  <c:v>43</c:v>
                </c:pt>
                <c:pt idx="24">
                  <c:v>44</c:v>
                </c:pt>
                <c:pt idx="25">
                  <c:v>45</c:v>
                </c:pt>
                <c:pt idx="26">
                  <c:v>49</c:v>
                </c:pt>
                <c:pt idx="27">
                  <c:v>50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62</c:v>
                </c:pt>
                <c:pt idx="36">
                  <c:v>63</c:v>
                </c:pt>
                <c:pt idx="37">
                  <c:v>64</c:v>
                </c:pt>
                <c:pt idx="38">
                  <c:v>65</c:v>
                </c:pt>
                <c:pt idx="39">
                  <c:v>66</c:v>
                </c:pt>
                <c:pt idx="40">
                  <c:v>67</c:v>
                </c:pt>
                <c:pt idx="41">
                  <c:v>69</c:v>
                </c:pt>
                <c:pt idx="42">
                  <c:v>70</c:v>
                </c:pt>
                <c:pt idx="43">
                  <c:v>71</c:v>
                </c:pt>
                <c:pt idx="44">
                  <c:v>72</c:v>
                </c:pt>
                <c:pt idx="45">
                  <c:v>74</c:v>
                </c:pt>
                <c:pt idx="46">
                  <c:v>76</c:v>
                </c:pt>
                <c:pt idx="47">
                  <c:v>78</c:v>
                </c:pt>
                <c:pt idx="48">
                  <c:v>79</c:v>
                </c:pt>
                <c:pt idx="49">
                  <c:v>80</c:v>
                </c:pt>
                <c:pt idx="50">
                  <c:v>81</c:v>
                </c:pt>
                <c:pt idx="51">
                  <c:v>82</c:v>
                </c:pt>
                <c:pt idx="52">
                  <c:v>83</c:v>
                </c:pt>
                <c:pt idx="53">
                  <c:v>84</c:v>
                </c:pt>
                <c:pt idx="54">
                  <c:v>85</c:v>
                </c:pt>
                <c:pt idx="55">
                  <c:v>86</c:v>
                </c:pt>
                <c:pt idx="56">
                  <c:v>87</c:v>
                </c:pt>
                <c:pt idx="57">
                  <c:v>88</c:v>
                </c:pt>
                <c:pt idx="58">
                  <c:v>89</c:v>
                </c:pt>
                <c:pt idx="59">
                  <c:v>90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3</c:v>
                </c:pt>
                <c:pt idx="16">
                  <c:v>2</c:v>
                </c:pt>
                <c:pt idx="17">
                  <c:v>3</c:v>
                </c:pt>
                <c:pt idx="18">
                  <c:v>2</c:v>
                </c:pt>
                <c:pt idx="19">
                  <c:v>3</c:v>
                </c:pt>
                <c:pt idx="20">
                  <c:v>2</c:v>
                </c:pt>
                <c:pt idx="21">
                  <c:v>2</c:v>
                </c:pt>
                <c:pt idx="22">
                  <c:v>1</c:v>
                </c:pt>
                <c:pt idx="23">
                  <c:v>3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3</c:v>
                </c:pt>
                <c:pt idx="30">
                  <c:v>1</c:v>
                </c:pt>
                <c:pt idx="31">
                  <c:v>1</c:v>
                </c:pt>
                <c:pt idx="32">
                  <c:v>3</c:v>
                </c:pt>
                <c:pt idx="33">
                  <c:v>2</c:v>
                </c:pt>
                <c:pt idx="34">
                  <c:v>3</c:v>
                </c:pt>
                <c:pt idx="35">
                  <c:v>3</c:v>
                </c:pt>
                <c:pt idx="36">
                  <c:v>2</c:v>
                </c:pt>
                <c:pt idx="37">
                  <c:v>1</c:v>
                </c:pt>
                <c:pt idx="38">
                  <c:v>1</c:v>
                </c:pt>
                <c:pt idx="39">
                  <c:v>3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2</c:v>
                </c:pt>
                <c:pt idx="48">
                  <c:v>2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1</c:v>
                </c:pt>
                <c:pt idx="59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.5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 code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Flight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Unsuccessful</c:v>
          </c:tx>
          <c:marker>
            <c:symbol val="circle"/>
            <c:size val="6"/>
            <c:spPr>
              <a:solidFill xmlns:a="http://schemas.openxmlformats.org/drawingml/2006/main">
                <a:srgbClr val="D55E00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6104.95941176</c:v>
                </c:pt>
                <c:pt idx="1">
                  <c:v>525</c:v>
                </c:pt>
                <c:pt idx="2">
                  <c:v>677</c:v>
                </c:pt>
                <c:pt idx="3">
                  <c:v>500</c:v>
                </c:pt>
                <c:pt idx="4">
                  <c:v>3170</c:v>
                </c:pt>
                <c:pt idx="5">
                  <c:v>3325</c:v>
                </c:pt>
                <c:pt idx="6">
                  <c:v>4535</c:v>
                </c:pt>
                <c:pt idx="7">
                  <c:v>4428</c:v>
                </c:pt>
                <c:pt idx="8">
                  <c:v>2216</c:v>
                </c:pt>
                <c:pt idx="9">
                  <c:v>2395</c:v>
                </c:pt>
                <c:pt idx="10">
                  <c:v>1898</c:v>
                </c:pt>
                <c:pt idx="11">
                  <c:v>4707</c:v>
                </c:pt>
                <c:pt idx="12">
                  <c:v>2477</c:v>
                </c:pt>
                <c:pt idx="13">
                  <c:v>553</c:v>
                </c:pt>
                <c:pt idx="14">
                  <c:v>5271</c:v>
                </c:pt>
                <c:pt idx="15">
                  <c:v>5500</c:v>
                </c:pt>
                <c:pt idx="16">
                  <c:v>5600</c:v>
                </c:pt>
                <c:pt idx="17">
                  <c:v>6070</c:v>
                </c:pt>
                <c:pt idx="18">
                  <c:v>6761</c:v>
                </c:pt>
                <c:pt idx="19">
                  <c:v>6092</c:v>
                </c:pt>
                <c:pt idx="20">
                  <c:v>9600</c:v>
                </c:pt>
                <c:pt idx="21">
                  <c:v>2760</c:v>
                </c:pt>
                <c:pt idx="22">
                  <c:v>5383.85</c:v>
                </c:pt>
                <c:pt idx="23">
                  <c:v>2410</c:v>
                </c:pt>
                <c:pt idx="24">
                  <c:v>2573</c:v>
                </c:pt>
                <c:pt idx="25">
                  <c:v>4400</c:v>
                </c:pt>
                <c:pt idx="26">
                  <c:v>6500</c:v>
                </c:pt>
                <c:pt idx="27">
                  <c:v>6104.95941176</c:v>
                </c:pt>
                <c:pt idx="28">
                  <c:v>15400</c:v>
                </c:pt>
                <c:pt idx="29">
                  <c:v>15600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3</c:v>
                </c:pt>
                <c:pt idx="14">
                  <c:v>1</c:v>
                </c:pt>
                <c:pt idx="15">
                  <c:v>1</c:v>
                </c:pt>
                <c:pt idx="16">
                  <c:v>2</c:v>
                </c:pt>
                <c:pt idx="17">
                  <c:v>2</c:v>
                </c:pt>
                <c:pt idx="18">
                  <c:v>2</c:v>
                </c:pt>
                <c:pt idx="19">
                  <c:v>1</c:v>
                </c:pt>
                <c:pt idx="20">
                  <c:v>3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2</c:v>
                </c:pt>
              </c:numCache>
            </c:numRef>
          </c:yVal>
        </c:ser>
        <c:ser>
          <c:idx val="1"/>
          <c:order val="1"/>
          <c:tx>
            <c:v>Successful</c:v>
          </c:tx>
          <c:marker>
            <c:symbol val="circle"/>
            <c:size val="6"/>
            <c:spPr>
              <a:solidFill xmlns:a="http://schemas.openxmlformats.org/drawingml/2006/main">
                <a:srgbClr val="0072B2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2296</c:v>
                </c:pt>
                <c:pt idx="1">
                  <c:v>1316</c:v>
                </c:pt>
                <c:pt idx="2">
                  <c:v>570</c:v>
                </c:pt>
                <c:pt idx="3">
                  <c:v>2034</c:v>
                </c:pt>
                <c:pt idx="4">
                  <c:v>3136</c:v>
                </c:pt>
                <c:pt idx="5">
                  <c:v>4696</c:v>
                </c:pt>
                <c:pt idx="6">
                  <c:v>3100</c:v>
                </c:pt>
                <c:pt idx="7">
                  <c:v>2257</c:v>
                </c:pt>
                <c:pt idx="8">
                  <c:v>4600</c:v>
                </c:pt>
                <c:pt idx="9">
                  <c:v>9600</c:v>
                </c:pt>
                <c:pt idx="10">
                  <c:v>2490</c:v>
                </c:pt>
                <c:pt idx="11">
                  <c:v>5300</c:v>
                </c:pt>
                <c:pt idx="12">
                  <c:v>6104.95941176</c:v>
                </c:pt>
                <c:pt idx="13">
                  <c:v>2708</c:v>
                </c:pt>
                <c:pt idx="14">
                  <c:v>3669</c:v>
                </c:pt>
                <c:pt idx="15">
                  <c:v>9600</c:v>
                </c:pt>
                <c:pt idx="16">
                  <c:v>2910</c:v>
                </c:pt>
                <c:pt idx="17">
                  <c:v>475</c:v>
                </c:pt>
                <c:pt idx="18">
                  <c:v>4990</c:v>
                </c:pt>
                <c:pt idx="19">
                  <c:v>9600</c:v>
                </c:pt>
                <c:pt idx="20">
                  <c:v>5200</c:v>
                </c:pt>
                <c:pt idx="21">
                  <c:v>3700</c:v>
                </c:pt>
                <c:pt idx="22">
                  <c:v>2205</c:v>
                </c:pt>
                <c:pt idx="23">
                  <c:v>9600</c:v>
                </c:pt>
                <c:pt idx="24">
                  <c:v>6104.95941176</c:v>
                </c:pt>
                <c:pt idx="25">
                  <c:v>4230</c:v>
                </c:pt>
                <c:pt idx="26">
                  <c:v>350</c:v>
                </c:pt>
                <c:pt idx="27">
                  <c:v>3750</c:v>
                </c:pt>
                <c:pt idx="28">
                  <c:v>7076</c:v>
                </c:pt>
                <c:pt idx="29">
                  <c:v>9600</c:v>
                </c:pt>
                <c:pt idx="30">
                  <c:v>5800</c:v>
                </c:pt>
                <c:pt idx="31">
                  <c:v>7060</c:v>
                </c:pt>
                <c:pt idx="32">
                  <c:v>2800</c:v>
                </c:pt>
                <c:pt idx="33">
                  <c:v>3000</c:v>
                </c:pt>
                <c:pt idx="34">
                  <c:v>4000</c:v>
                </c:pt>
                <c:pt idx="35">
                  <c:v>9600</c:v>
                </c:pt>
                <c:pt idx="36">
                  <c:v>12259</c:v>
                </c:pt>
                <c:pt idx="37">
                  <c:v>2482</c:v>
                </c:pt>
                <c:pt idx="38">
                  <c:v>13620</c:v>
                </c:pt>
                <c:pt idx="39">
                  <c:v>1425</c:v>
                </c:pt>
                <c:pt idx="40">
                  <c:v>2227.7</c:v>
                </c:pt>
                <c:pt idx="41">
                  <c:v>15600</c:v>
                </c:pt>
                <c:pt idx="42">
                  <c:v>5000</c:v>
                </c:pt>
                <c:pt idx="43">
                  <c:v>6800</c:v>
                </c:pt>
                <c:pt idx="44">
                  <c:v>15400</c:v>
                </c:pt>
                <c:pt idx="45">
                  <c:v>15600</c:v>
                </c:pt>
                <c:pt idx="46">
                  <c:v>1977</c:v>
                </c:pt>
                <c:pt idx="47">
                  <c:v>15400</c:v>
                </c:pt>
                <c:pt idx="48">
                  <c:v>9525</c:v>
                </c:pt>
                <c:pt idx="49">
                  <c:v>15400</c:v>
                </c:pt>
                <c:pt idx="50">
                  <c:v>15400</c:v>
                </c:pt>
                <c:pt idx="51">
                  <c:v>3880</c:v>
                </c:pt>
                <c:pt idx="52">
                  <c:v>6104.95941176</c:v>
                </c:pt>
                <c:pt idx="53">
                  <c:v>15400</c:v>
                </c:pt>
                <c:pt idx="54">
                  <c:v>1600</c:v>
                </c:pt>
                <c:pt idx="55">
                  <c:v>15400</c:v>
                </c:pt>
                <c:pt idx="56">
                  <c:v>15400</c:v>
                </c:pt>
                <c:pt idx="57">
                  <c:v>15400</c:v>
                </c:pt>
                <c:pt idx="58">
                  <c:v>15400</c:v>
                </c:pt>
                <c:pt idx="59">
                  <c:v>3681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3</c:v>
                </c:pt>
                <c:pt idx="10">
                  <c:v>2</c:v>
                </c:pt>
                <c:pt idx="11">
                  <c:v>2</c:v>
                </c:pt>
                <c:pt idx="12">
                  <c:v>2</c:v>
                </c:pt>
                <c:pt idx="13">
                  <c:v>2</c:v>
                </c:pt>
                <c:pt idx="14">
                  <c:v>2</c:v>
                </c:pt>
                <c:pt idx="15">
                  <c:v>3</c:v>
                </c:pt>
                <c:pt idx="16">
                  <c:v>2</c:v>
                </c:pt>
                <c:pt idx="17">
                  <c:v>3</c:v>
                </c:pt>
                <c:pt idx="18">
                  <c:v>2</c:v>
                </c:pt>
                <c:pt idx="19">
                  <c:v>3</c:v>
                </c:pt>
                <c:pt idx="20">
                  <c:v>2</c:v>
                </c:pt>
                <c:pt idx="21">
                  <c:v>2</c:v>
                </c:pt>
                <c:pt idx="22">
                  <c:v>1</c:v>
                </c:pt>
                <c:pt idx="23">
                  <c:v>3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2</c:v>
                </c:pt>
                <c:pt idx="28">
                  <c:v>1</c:v>
                </c:pt>
                <c:pt idx="29">
                  <c:v>3</c:v>
                </c:pt>
                <c:pt idx="30">
                  <c:v>1</c:v>
                </c:pt>
                <c:pt idx="31">
                  <c:v>1</c:v>
                </c:pt>
                <c:pt idx="32">
                  <c:v>3</c:v>
                </c:pt>
                <c:pt idx="33">
                  <c:v>2</c:v>
                </c:pt>
                <c:pt idx="34">
                  <c:v>3</c:v>
                </c:pt>
                <c:pt idx="35">
                  <c:v>3</c:v>
                </c:pt>
                <c:pt idx="36">
                  <c:v>2</c:v>
                </c:pt>
                <c:pt idx="37">
                  <c:v>1</c:v>
                </c:pt>
                <c:pt idx="38">
                  <c:v>1</c:v>
                </c:pt>
                <c:pt idx="39">
                  <c:v>3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2</c:v>
                </c:pt>
                <c:pt idx="48">
                  <c:v>2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2</c:v>
                </c:pt>
                <c:pt idx="56">
                  <c:v>2</c:v>
                </c:pt>
                <c:pt idx="57">
                  <c:v>2</c:v>
                </c:pt>
                <c:pt idx="58">
                  <c:v>1</c:v>
                </c:pt>
                <c:pt idx="59">
                  <c:v>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.5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Site code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Payload mass (kg)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Unsuccessful</c:v>
          </c:tx>
          <c:marker>
            <c:symbol val="circle"/>
            <c:size val="6"/>
            <c:spPr>
              <a:solidFill xmlns:a="http://schemas.openxmlformats.org/drawingml/2006/main">
                <a:srgbClr val="D55E00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9</c:v>
                </c:pt>
                <c:pt idx="7">
                  <c:v>10</c:v>
                </c:pt>
                <c:pt idx="8">
                  <c:v>11</c:v>
                </c:pt>
                <c:pt idx="9">
                  <c:v>12</c:v>
                </c:pt>
                <c:pt idx="10">
                  <c:v>14</c:v>
                </c:pt>
                <c:pt idx="11">
                  <c:v>15</c:v>
                </c:pt>
                <c:pt idx="12">
                  <c:v>16</c:v>
                </c:pt>
                <c:pt idx="13">
                  <c:v>18</c:v>
                </c:pt>
                <c:pt idx="14">
                  <c:v>19</c:v>
                </c:pt>
                <c:pt idx="15">
                  <c:v>25</c:v>
                </c:pt>
                <c:pt idx="16">
                  <c:v>28</c:v>
                </c:pt>
                <c:pt idx="17">
                  <c:v>31</c:v>
                </c:pt>
                <c:pt idx="18">
                  <c:v>35</c:v>
                </c:pt>
                <c:pt idx="19">
                  <c:v>46</c:v>
                </c:pt>
                <c:pt idx="20">
                  <c:v>47</c:v>
                </c:pt>
                <c:pt idx="21">
                  <c:v>48</c:v>
                </c:pt>
                <c:pt idx="22">
                  <c:v>51</c:v>
                </c:pt>
                <c:pt idx="23">
                  <c:v>52</c:v>
                </c:pt>
                <c:pt idx="24">
                  <c:v>60</c:v>
                </c:pt>
                <c:pt idx="25">
                  <c:v>61</c:v>
                </c:pt>
                <c:pt idx="26">
                  <c:v>68</c:v>
                </c:pt>
                <c:pt idx="27">
                  <c:v>73</c:v>
                </c:pt>
                <c:pt idx="28">
                  <c:v>75</c:v>
                </c:pt>
                <c:pt idx="29">
                  <c:v>77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4</c:v>
                </c:pt>
                <c:pt idx="12">
                  <c:v>2</c:v>
                </c:pt>
                <c:pt idx="13">
                  <c:v>3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3</c:v>
                </c:pt>
                <c:pt idx="21">
                  <c:v>2</c:v>
                </c:pt>
                <c:pt idx="22">
                  <c:v>4</c:v>
                </c:pt>
                <c:pt idx="23">
                  <c:v>2</c:v>
                </c:pt>
                <c:pt idx="24">
                  <c:v>2</c:v>
                </c:pt>
                <c:pt idx="25">
                  <c:v>8</c:v>
                </c:pt>
                <c:pt idx="26">
                  <c:v>4</c:v>
                </c:pt>
                <c:pt idx="27">
                  <c:v>10</c:v>
                </c:pt>
                <c:pt idx="28">
                  <c:v>9</c:v>
                </c:pt>
                <c:pt idx="29">
                  <c:v>9</c:v>
                </c:pt>
              </c:numCache>
            </c:numRef>
          </c:yVal>
        </c:ser>
        <c:ser>
          <c:idx val="1"/>
          <c:order val="1"/>
          <c:tx>
            <c:v>Successful</c:v>
          </c:tx>
          <c:marker>
            <c:symbol val="circle"/>
            <c:size val="6"/>
            <c:spPr>
              <a:solidFill xmlns:a="http://schemas.openxmlformats.org/drawingml/2006/main">
                <a:srgbClr val="0072B2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7</c:v>
                </c:pt>
                <c:pt idx="1">
                  <c:v>8</c:v>
                </c:pt>
                <c:pt idx="2">
                  <c:v>13</c:v>
                </c:pt>
                <c:pt idx="3">
                  <c:v>17</c:v>
                </c:pt>
                <c:pt idx="4">
                  <c:v>20</c:v>
                </c:pt>
                <c:pt idx="5">
                  <c:v>21</c:v>
                </c:pt>
                <c:pt idx="6">
                  <c:v>22</c:v>
                </c:pt>
                <c:pt idx="7">
                  <c:v>23</c:v>
                </c:pt>
                <c:pt idx="8">
                  <c:v>24</c:v>
                </c:pt>
                <c:pt idx="9">
                  <c:v>26</c:v>
                </c:pt>
                <c:pt idx="10">
                  <c:v>27</c:v>
                </c:pt>
                <c:pt idx="11">
                  <c:v>29</c:v>
                </c:pt>
                <c:pt idx="12">
                  <c:v>30</c:v>
                </c:pt>
                <c:pt idx="13">
                  <c:v>32</c:v>
                </c:pt>
                <c:pt idx="14">
                  <c:v>33</c:v>
                </c:pt>
                <c:pt idx="15">
                  <c:v>34</c:v>
                </c:pt>
                <c:pt idx="16">
                  <c:v>36</c:v>
                </c:pt>
                <c:pt idx="17">
                  <c:v>37</c:v>
                </c:pt>
                <c:pt idx="18">
                  <c:v>38</c:v>
                </c:pt>
                <c:pt idx="19">
                  <c:v>39</c:v>
                </c:pt>
                <c:pt idx="20">
                  <c:v>40</c:v>
                </c:pt>
                <c:pt idx="21">
                  <c:v>41</c:v>
                </c:pt>
                <c:pt idx="22">
                  <c:v>42</c:v>
                </c:pt>
                <c:pt idx="23">
                  <c:v>43</c:v>
                </c:pt>
                <c:pt idx="24">
                  <c:v>44</c:v>
                </c:pt>
                <c:pt idx="25">
                  <c:v>45</c:v>
                </c:pt>
                <c:pt idx="26">
                  <c:v>49</c:v>
                </c:pt>
                <c:pt idx="27">
                  <c:v>50</c:v>
                </c:pt>
                <c:pt idx="28">
                  <c:v>53</c:v>
                </c:pt>
                <c:pt idx="29">
                  <c:v>54</c:v>
                </c:pt>
                <c:pt idx="30">
                  <c:v>55</c:v>
                </c:pt>
                <c:pt idx="31">
                  <c:v>56</c:v>
                </c:pt>
                <c:pt idx="32">
                  <c:v>57</c:v>
                </c:pt>
                <c:pt idx="33">
                  <c:v>58</c:v>
                </c:pt>
                <c:pt idx="34">
                  <c:v>59</c:v>
                </c:pt>
                <c:pt idx="35">
                  <c:v>62</c:v>
                </c:pt>
                <c:pt idx="36">
                  <c:v>63</c:v>
                </c:pt>
                <c:pt idx="37">
                  <c:v>64</c:v>
                </c:pt>
                <c:pt idx="38">
                  <c:v>65</c:v>
                </c:pt>
                <c:pt idx="39">
                  <c:v>66</c:v>
                </c:pt>
                <c:pt idx="40">
                  <c:v>67</c:v>
                </c:pt>
                <c:pt idx="41">
                  <c:v>69</c:v>
                </c:pt>
                <c:pt idx="42">
                  <c:v>70</c:v>
                </c:pt>
                <c:pt idx="43">
                  <c:v>71</c:v>
                </c:pt>
                <c:pt idx="44">
                  <c:v>72</c:v>
                </c:pt>
                <c:pt idx="45">
                  <c:v>74</c:v>
                </c:pt>
                <c:pt idx="46">
                  <c:v>76</c:v>
                </c:pt>
                <c:pt idx="47">
                  <c:v>78</c:v>
                </c:pt>
                <c:pt idx="48">
                  <c:v>79</c:v>
                </c:pt>
                <c:pt idx="49">
                  <c:v>80</c:v>
                </c:pt>
                <c:pt idx="50">
                  <c:v>81</c:v>
                </c:pt>
                <c:pt idx="51">
                  <c:v>82</c:v>
                </c:pt>
                <c:pt idx="52">
                  <c:v>83</c:v>
                </c:pt>
                <c:pt idx="53">
                  <c:v>84</c:v>
                </c:pt>
                <c:pt idx="54">
                  <c:v>85</c:v>
                </c:pt>
                <c:pt idx="55">
                  <c:v>86</c:v>
                </c:pt>
                <c:pt idx="56">
                  <c:v>87</c:v>
                </c:pt>
                <c:pt idx="57">
                  <c:v>88</c:v>
                </c:pt>
                <c:pt idx="58">
                  <c:v>89</c:v>
                </c:pt>
                <c:pt idx="59">
                  <c:v>90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2</c:v>
                </c:pt>
                <c:pt idx="1">
                  <c:v>1</c:v>
                </c:pt>
                <c:pt idx="2">
                  <c:v>5</c:v>
                </c:pt>
                <c:pt idx="3">
                  <c:v>1</c:v>
                </c:pt>
                <c:pt idx="4">
                  <c:v>2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4</c:v>
                </c:pt>
                <c:pt idx="12">
                  <c:v>1</c:v>
                </c:pt>
                <c:pt idx="13">
                  <c:v>2</c:v>
                </c:pt>
                <c:pt idx="14">
                  <c:v>4</c:v>
                </c:pt>
                <c:pt idx="15">
                  <c:v>3</c:v>
                </c:pt>
                <c:pt idx="16">
                  <c:v>2</c:v>
                </c:pt>
                <c:pt idx="17">
                  <c:v>6</c:v>
                </c:pt>
                <c:pt idx="18">
                  <c:v>1</c:v>
                </c:pt>
                <c:pt idx="19">
                  <c:v>3</c:v>
                </c:pt>
                <c:pt idx="20">
                  <c:v>4</c:v>
                </c:pt>
                <c:pt idx="21">
                  <c:v>4</c:v>
                </c:pt>
                <c:pt idx="22">
                  <c:v>2</c:v>
                </c:pt>
                <c:pt idx="23">
                  <c:v>3</c:v>
                </c:pt>
                <c:pt idx="24">
                  <c:v>1</c:v>
                </c:pt>
                <c:pt idx="25">
                  <c:v>4</c:v>
                </c:pt>
                <c:pt idx="26">
                  <c:v>7</c:v>
                </c:pt>
                <c:pt idx="27">
                  <c:v>4</c:v>
                </c:pt>
                <c:pt idx="28">
                  <c:v>4</c:v>
                </c:pt>
                <c:pt idx="29">
                  <c:v>3</c:v>
                </c:pt>
                <c:pt idx="30">
                  <c:v>4</c:v>
                </c:pt>
                <c:pt idx="31">
                  <c:v>4</c:v>
                </c:pt>
                <c:pt idx="32">
                  <c:v>6</c:v>
                </c:pt>
                <c:pt idx="33">
                  <c:v>4</c:v>
                </c:pt>
                <c:pt idx="34">
                  <c:v>6</c:v>
                </c:pt>
                <c:pt idx="35">
                  <c:v>3</c:v>
                </c:pt>
                <c:pt idx="36">
                  <c:v>2</c:v>
                </c:pt>
                <c:pt idx="37">
                  <c:v>2</c:v>
                </c:pt>
                <c:pt idx="38">
                  <c:v>9</c:v>
                </c:pt>
                <c:pt idx="39">
                  <c:v>6</c:v>
                </c:pt>
                <c:pt idx="40">
                  <c:v>2</c:v>
                </c:pt>
                <c:pt idx="41">
                  <c:v>9</c:v>
                </c:pt>
                <c:pt idx="42">
                  <c:v>2</c:v>
                </c:pt>
                <c:pt idx="43">
                  <c:v>4</c:v>
                </c:pt>
                <c:pt idx="44">
                  <c:v>9</c:v>
                </c:pt>
                <c:pt idx="45">
                  <c:v>9</c:v>
                </c:pt>
                <c:pt idx="46">
                  <c:v>2</c:v>
                </c:pt>
                <c:pt idx="47">
                  <c:v>9</c:v>
                </c:pt>
                <c:pt idx="48">
                  <c:v>2</c:v>
                </c:pt>
                <c:pt idx="49">
                  <c:v>9</c:v>
                </c:pt>
                <c:pt idx="50">
                  <c:v>9</c:v>
                </c:pt>
                <c:pt idx="51">
                  <c:v>8</c:v>
                </c:pt>
                <c:pt idx="52">
                  <c:v>11</c:v>
                </c:pt>
                <c:pt idx="53">
                  <c:v>9</c:v>
                </c:pt>
                <c:pt idx="54">
                  <c:v>6</c:v>
                </c:pt>
                <c:pt idx="55">
                  <c:v>9</c:v>
                </c:pt>
                <c:pt idx="56">
                  <c:v>9</c:v>
                </c:pt>
                <c:pt idx="57">
                  <c:v>9</c:v>
                </c:pt>
                <c:pt idx="58">
                  <c:v>9</c:v>
                </c:pt>
                <c:pt idx="59">
                  <c:v>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1.5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Orbit code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Flight number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marker"/>
        <c:varyColors val="0"/>
        <c:ser>
          <c:idx val="0"/>
          <c:order val="0"/>
          <c:tx>
            <c:v>Unsuccessful</c:v>
          </c:tx>
          <c:marker>
            <c:symbol val="circle"/>
            <c:size val="6"/>
            <c:spPr>
              <a:solidFill xmlns:a="http://schemas.openxmlformats.org/drawingml/2006/main">
                <a:srgbClr val="D55E00"/>
              </a:solidFill>
            </c:spPr>
          </c:marker>
          <c:xVal>
            <c:numRef>
              <c:f>'Chart Data'!$A$2:$A$31</c:f>
              <c:numCache>
                <c:formatCode>General</c:formatCode>
                <c:ptCount val="30"/>
                <c:pt idx="0">
                  <c:v>6104.95941176</c:v>
                </c:pt>
                <c:pt idx="1">
                  <c:v>525</c:v>
                </c:pt>
                <c:pt idx="2">
                  <c:v>677</c:v>
                </c:pt>
                <c:pt idx="3">
                  <c:v>500</c:v>
                </c:pt>
                <c:pt idx="4">
                  <c:v>3170</c:v>
                </c:pt>
                <c:pt idx="5">
                  <c:v>3325</c:v>
                </c:pt>
                <c:pt idx="6">
                  <c:v>4535</c:v>
                </c:pt>
                <c:pt idx="7">
                  <c:v>4428</c:v>
                </c:pt>
                <c:pt idx="8">
                  <c:v>2216</c:v>
                </c:pt>
                <c:pt idx="9">
                  <c:v>2395</c:v>
                </c:pt>
                <c:pt idx="10">
                  <c:v>1898</c:v>
                </c:pt>
                <c:pt idx="11">
                  <c:v>4707</c:v>
                </c:pt>
                <c:pt idx="12">
                  <c:v>2477</c:v>
                </c:pt>
                <c:pt idx="13">
                  <c:v>553</c:v>
                </c:pt>
                <c:pt idx="14">
                  <c:v>5271</c:v>
                </c:pt>
                <c:pt idx="15">
                  <c:v>5500</c:v>
                </c:pt>
                <c:pt idx="16">
                  <c:v>5600</c:v>
                </c:pt>
                <c:pt idx="17">
                  <c:v>6070</c:v>
                </c:pt>
                <c:pt idx="18">
                  <c:v>6761</c:v>
                </c:pt>
                <c:pt idx="19">
                  <c:v>6092</c:v>
                </c:pt>
                <c:pt idx="20">
                  <c:v>9600</c:v>
                </c:pt>
                <c:pt idx="21">
                  <c:v>2760</c:v>
                </c:pt>
                <c:pt idx="22">
                  <c:v>5383.85</c:v>
                </c:pt>
                <c:pt idx="23">
                  <c:v>2410</c:v>
                </c:pt>
                <c:pt idx="24">
                  <c:v>2573</c:v>
                </c:pt>
                <c:pt idx="25">
                  <c:v>4400</c:v>
                </c:pt>
                <c:pt idx="26">
                  <c:v>6500</c:v>
                </c:pt>
                <c:pt idx="27">
                  <c:v>6104.95941176</c:v>
                </c:pt>
                <c:pt idx="28">
                  <c:v>15400</c:v>
                </c:pt>
                <c:pt idx="29">
                  <c:v>15600</c:v>
                </c:pt>
              </c:numCache>
            </c:numRef>
          </c:xVal>
          <c:yVal>
            <c:numRef>
              <c:f>'Chart Data'!$B$2:$B$31</c:f>
              <c:numCache>
                <c:formatCode>General</c:formatCode>
                <c:ptCount val="30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2</c:v>
                </c:pt>
                <c:pt idx="9">
                  <c:v>2</c:v>
                </c:pt>
                <c:pt idx="10">
                  <c:v>2</c:v>
                </c:pt>
                <c:pt idx="11">
                  <c:v>4</c:v>
                </c:pt>
                <c:pt idx="12">
                  <c:v>2</c:v>
                </c:pt>
                <c:pt idx="13">
                  <c:v>3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3</c:v>
                </c:pt>
                <c:pt idx="21">
                  <c:v>2</c:v>
                </c:pt>
                <c:pt idx="22">
                  <c:v>4</c:v>
                </c:pt>
                <c:pt idx="23">
                  <c:v>2</c:v>
                </c:pt>
                <c:pt idx="24">
                  <c:v>2</c:v>
                </c:pt>
                <c:pt idx="25">
                  <c:v>8</c:v>
                </c:pt>
                <c:pt idx="26">
                  <c:v>4</c:v>
                </c:pt>
                <c:pt idx="27">
                  <c:v>10</c:v>
                </c:pt>
                <c:pt idx="28">
                  <c:v>9</c:v>
                </c:pt>
                <c:pt idx="29">
                  <c:v>9</c:v>
                </c:pt>
              </c:numCache>
            </c:numRef>
          </c:yVal>
        </c:ser>
        <c:ser>
          <c:idx val="1"/>
          <c:order val="1"/>
          <c:tx>
            <c:v>Successful</c:v>
          </c:tx>
          <c:marker>
            <c:symbol val="circle"/>
            <c:size val="6"/>
            <c:spPr>
              <a:solidFill xmlns:a="http://schemas.openxmlformats.org/drawingml/2006/main">
                <a:srgbClr val="0072B2"/>
              </a:solidFill>
            </c:spPr>
          </c:marker>
          <c:xVal>
            <c:numRef>
              <c:f>'Chart Data'!$C$2:$C$61</c:f>
              <c:numCache>
                <c:formatCode>General</c:formatCode>
                <c:ptCount val="60"/>
                <c:pt idx="0">
                  <c:v>2296</c:v>
                </c:pt>
                <c:pt idx="1">
                  <c:v>1316</c:v>
                </c:pt>
                <c:pt idx="2">
                  <c:v>570</c:v>
                </c:pt>
                <c:pt idx="3">
                  <c:v>2034</c:v>
                </c:pt>
                <c:pt idx="4">
                  <c:v>3136</c:v>
                </c:pt>
                <c:pt idx="5">
                  <c:v>4696</c:v>
                </c:pt>
                <c:pt idx="6">
                  <c:v>3100</c:v>
                </c:pt>
                <c:pt idx="7">
                  <c:v>2257</c:v>
                </c:pt>
                <c:pt idx="8">
                  <c:v>4600</c:v>
                </c:pt>
                <c:pt idx="9">
                  <c:v>9600</c:v>
                </c:pt>
                <c:pt idx="10">
                  <c:v>2490</c:v>
                </c:pt>
                <c:pt idx="11">
                  <c:v>5300</c:v>
                </c:pt>
                <c:pt idx="12">
                  <c:v>6104.95941176</c:v>
                </c:pt>
                <c:pt idx="13">
                  <c:v>2708</c:v>
                </c:pt>
                <c:pt idx="14">
                  <c:v>3669</c:v>
                </c:pt>
                <c:pt idx="15">
                  <c:v>9600</c:v>
                </c:pt>
                <c:pt idx="16">
                  <c:v>2910</c:v>
                </c:pt>
                <c:pt idx="17">
                  <c:v>475</c:v>
                </c:pt>
                <c:pt idx="18">
                  <c:v>4990</c:v>
                </c:pt>
                <c:pt idx="19">
                  <c:v>9600</c:v>
                </c:pt>
                <c:pt idx="20">
                  <c:v>5200</c:v>
                </c:pt>
                <c:pt idx="21">
                  <c:v>3700</c:v>
                </c:pt>
                <c:pt idx="22">
                  <c:v>2205</c:v>
                </c:pt>
                <c:pt idx="23">
                  <c:v>9600</c:v>
                </c:pt>
                <c:pt idx="24">
                  <c:v>6104.95941176</c:v>
                </c:pt>
                <c:pt idx="25">
                  <c:v>4230</c:v>
                </c:pt>
                <c:pt idx="26">
                  <c:v>350</c:v>
                </c:pt>
                <c:pt idx="27">
                  <c:v>3750</c:v>
                </c:pt>
                <c:pt idx="28">
                  <c:v>7076</c:v>
                </c:pt>
                <c:pt idx="29">
                  <c:v>9600</c:v>
                </c:pt>
                <c:pt idx="30">
                  <c:v>5800</c:v>
                </c:pt>
                <c:pt idx="31">
                  <c:v>7060</c:v>
                </c:pt>
                <c:pt idx="32">
                  <c:v>2800</c:v>
                </c:pt>
                <c:pt idx="33">
                  <c:v>3000</c:v>
                </c:pt>
                <c:pt idx="34">
                  <c:v>4000</c:v>
                </c:pt>
                <c:pt idx="35">
                  <c:v>9600</c:v>
                </c:pt>
                <c:pt idx="36">
                  <c:v>12259</c:v>
                </c:pt>
                <c:pt idx="37">
                  <c:v>2482</c:v>
                </c:pt>
                <c:pt idx="38">
                  <c:v>13620</c:v>
                </c:pt>
                <c:pt idx="39">
                  <c:v>1425</c:v>
                </c:pt>
                <c:pt idx="40">
                  <c:v>2227.7</c:v>
                </c:pt>
                <c:pt idx="41">
                  <c:v>15600</c:v>
                </c:pt>
                <c:pt idx="42">
                  <c:v>5000</c:v>
                </c:pt>
                <c:pt idx="43">
                  <c:v>6800</c:v>
                </c:pt>
                <c:pt idx="44">
                  <c:v>15400</c:v>
                </c:pt>
                <c:pt idx="45">
                  <c:v>15600</c:v>
                </c:pt>
                <c:pt idx="46">
                  <c:v>1977</c:v>
                </c:pt>
                <c:pt idx="47">
                  <c:v>15400</c:v>
                </c:pt>
                <c:pt idx="48">
                  <c:v>9525</c:v>
                </c:pt>
                <c:pt idx="49">
                  <c:v>15400</c:v>
                </c:pt>
                <c:pt idx="50">
                  <c:v>15400</c:v>
                </c:pt>
                <c:pt idx="51">
                  <c:v>3880</c:v>
                </c:pt>
                <c:pt idx="52">
                  <c:v>6104.95941176</c:v>
                </c:pt>
                <c:pt idx="53">
                  <c:v>15400</c:v>
                </c:pt>
                <c:pt idx="54">
                  <c:v>1600</c:v>
                </c:pt>
                <c:pt idx="55">
                  <c:v>15400</c:v>
                </c:pt>
                <c:pt idx="56">
                  <c:v>15400</c:v>
                </c:pt>
                <c:pt idx="57">
                  <c:v>15400</c:v>
                </c:pt>
                <c:pt idx="58">
                  <c:v>15400</c:v>
                </c:pt>
                <c:pt idx="59">
                  <c:v>3681</c:v>
                </c:pt>
              </c:numCache>
            </c:numRef>
          </c:xVal>
          <c:yVal>
            <c:numRef>
              <c:f>'Chart Data'!$D$2:$D$61</c:f>
              <c:numCache>
                <c:formatCode>General</c:formatCode>
                <c:ptCount val="60"/>
                <c:pt idx="0">
                  <c:v>2</c:v>
                </c:pt>
                <c:pt idx="1">
                  <c:v>1</c:v>
                </c:pt>
                <c:pt idx="2">
                  <c:v>5</c:v>
                </c:pt>
                <c:pt idx="3">
                  <c:v>1</c:v>
                </c:pt>
                <c:pt idx="4">
                  <c:v>2</c:v>
                </c:pt>
                <c:pt idx="5">
                  <c:v>4</c:v>
                </c:pt>
                <c:pt idx="6">
                  <c:v>4</c:v>
                </c:pt>
                <c:pt idx="7">
                  <c:v>2</c:v>
                </c:pt>
                <c:pt idx="8">
                  <c:v>4</c:v>
                </c:pt>
                <c:pt idx="9">
                  <c:v>3</c:v>
                </c:pt>
                <c:pt idx="10">
                  <c:v>2</c:v>
                </c:pt>
                <c:pt idx="11">
                  <c:v>4</c:v>
                </c:pt>
                <c:pt idx="12">
                  <c:v>1</c:v>
                </c:pt>
                <c:pt idx="13">
                  <c:v>2</c:v>
                </c:pt>
                <c:pt idx="14">
                  <c:v>4</c:v>
                </c:pt>
                <c:pt idx="15">
                  <c:v>3</c:v>
                </c:pt>
                <c:pt idx="16">
                  <c:v>2</c:v>
                </c:pt>
                <c:pt idx="17">
                  <c:v>6</c:v>
                </c:pt>
                <c:pt idx="18">
                  <c:v>1</c:v>
                </c:pt>
                <c:pt idx="19">
                  <c:v>3</c:v>
                </c:pt>
                <c:pt idx="20">
                  <c:v>4</c:v>
                </c:pt>
                <c:pt idx="21">
                  <c:v>4</c:v>
                </c:pt>
                <c:pt idx="22">
                  <c:v>2</c:v>
                </c:pt>
                <c:pt idx="23">
                  <c:v>3</c:v>
                </c:pt>
                <c:pt idx="24">
                  <c:v>1</c:v>
                </c:pt>
                <c:pt idx="25">
                  <c:v>4</c:v>
                </c:pt>
                <c:pt idx="26">
                  <c:v>7</c:v>
                </c:pt>
                <c:pt idx="27">
                  <c:v>4</c:v>
                </c:pt>
                <c:pt idx="28">
                  <c:v>4</c:v>
                </c:pt>
                <c:pt idx="29">
                  <c:v>3</c:v>
                </c:pt>
                <c:pt idx="30">
                  <c:v>4</c:v>
                </c:pt>
                <c:pt idx="31">
                  <c:v>4</c:v>
                </c:pt>
                <c:pt idx="32">
                  <c:v>6</c:v>
                </c:pt>
                <c:pt idx="33">
                  <c:v>4</c:v>
                </c:pt>
                <c:pt idx="34">
                  <c:v>6</c:v>
                </c:pt>
                <c:pt idx="35">
                  <c:v>3</c:v>
                </c:pt>
                <c:pt idx="36">
                  <c:v>2</c:v>
                </c:pt>
                <c:pt idx="37">
                  <c:v>2</c:v>
                </c:pt>
                <c:pt idx="38">
                  <c:v>9</c:v>
                </c:pt>
                <c:pt idx="39">
                  <c:v>6</c:v>
                </c:pt>
                <c:pt idx="40">
                  <c:v>2</c:v>
                </c:pt>
                <c:pt idx="41">
                  <c:v>9</c:v>
                </c:pt>
                <c:pt idx="42">
                  <c:v>2</c:v>
                </c:pt>
                <c:pt idx="43">
                  <c:v>4</c:v>
                </c:pt>
                <c:pt idx="44">
                  <c:v>9</c:v>
                </c:pt>
                <c:pt idx="45">
                  <c:v>9</c:v>
                </c:pt>
                <c:pt idx="46">
                  <c:v>2</c:v>
                </c:pt>
                <c:pt idx="47">
                  <c:v>9</c:v>
                </c:pt>
                <c:pt idx="48">
                  <c:v>2</c:v>
                </c:pt>
                <c:pt idx="49">
                  <c:v>9</c:v>
                </c:pt>
                <c:pt idx="50">
                  <c:v>9</c:v>
                </c:pt>
                <c:pt idx="51">
                  <c:v>8</c:v>
                </c:pt>
                <c:pt idx="52">
                  <c:v>11</c:v>
                </c:pt>
                <c:pt idx="53">
                  <c:v>9</c:v>
                </c:pt>
                <c:pt idx="54">
                  <c:v>6</c:v>
                </c:pt>
                <c:pt idx="55">
                  <c:v>9</c:v>
                </c:pt>
                <c:pt idx="56">
                  <c:v>9</c:v>
                </c:pt>
                <c:pt idx="57">
                  <c:v>9</c:v>
                </c:pt>
                <c:pt idx="58">
                  <c:v>9</c:v>
                </c:pt>
                <c:pt idx="59">
                  <c:v>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1.5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Orbit code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Payload mass (kg)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Landing success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28575">
              <a:solidFill>
                <a:srgbClr val="0072B2"/>
              </a:solidFill>
            </a:ln>
          </c:spPr>
          <c:invertIfNegative val="0"/>
          <c:cat>
            <c:strRef>
              <c:f>'Chart Data'!$A$2:$A$12</c:f>
              <c:strCache>
                <c:ptCount val="11"/>
                <c:pt idx="0">
                  <c:v>SO</c:v>
                </c:pt>
                <c:pt idx="1">
                  <c:v>GTO</c:v>
                </c:pt>
                <c:pt idx="2">
                  <c:v>ISS</c:v>
                </c:pt>
                <c:pt idx="3">
                  <c:v>MEO</c:v>
                </c:pt>
                <c:pt idx="4">
                  <c:v>PO</c:v>
                </c:pt>
                <c:pt idx="5">
                  <c:v>LEO</c:v>
                </c:pt>
                <c:pt idx="6">
                  <c:v>VLEO</c:v>
                </c:pt>
                <c:pt idx="7">
                  <c:v>ES-L1</c:v>
                </c:pt>
                <c:pt idx="8">
                  <c:v>GEO</c:v>
                </c:pt>
                <c:pt idx="9">
                  <c:v>HEO</c:v>
                </c:pt>
                <c:pt idx="10">
                  <c:v>SSO</c:v>
                </c:pt>
              </c:strCache>
            </c:strRef>
          </c:cat>
          <c:val>
            <c:numRef>
              <c:f>'Chart Data'!$B$2:$B$12</c:f>
              <c:numCache>
                <c:formatCode>0%</c:formatCode>
                <c:ptCount val="11"/>
                <c:pt idx="0">
                  <c:v>0</c:v>
                </c:pt>
                <c:pt idx="1">
                  <c:v>0.518518518519</c:v>
                </c:pt>
                <c:pt idx="2">
                  <c:v>0.619047619048</c:v>
                </c:pt>
                <c:pt idx="3">
                  <c:v>0.666666666667</c:v>
                </c:pt>
                <c:pt idx="4">
                  <c:v>0.666666666667</c:v>
                </c:pt>
                <c:pt idx="5">
                  <c:v>0.714285714286</c:v>
                </c:pt>
                <c:pt idx="6">
                  <c:v>0.857142857143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Landing success 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Landing success</c:v>
          </c:tx>
          <c:spPr>
            <a:solidFill xmlns:a="http://schemas.openxmlformats.org/drawingml/2006/main">
              <a:srgbClr val="0072B2"/>
            </a:solidFill>
            <a:ln xmlns:a="http://schemas.openxmlformats.org/drawingml/2006/main" w="28575">
              <a:solidFill>
                <a:srgbClr val="0072B2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0072B2"/>
              </a:solidFill>
            </c:spPr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2010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</c:numCache>
            </c:numRef>
          </c:cat>
          <c:val>
            <c:numRef>
              <c:f>'Chart Data'!$B$2:$B$11</c:f>
              <c:numCache>
                <c:formatCode>0%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0.333333333333</c:v>
                </c:pt>
                <c:pt idx="4">
                  <c:v>0.333333333333</c:v>
                </c:pt>
                <c:pt idx="5">
                  <c:v>0.625</c:v>
                </c:pt>
                <c:pt idx="6">
                  <c:v>0.833333333333</c:v>
                </c:pt>
                <c:pt idx="7">
                  <c:v>0.611111111111</c:v>
                </c:pt>
                <c:pt idx="8">
                  <c:v>0.9</c:v>
                </c:pt>
                <c:pt idx="9">
                  <c:v>0.842105263158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0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5E0E8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Landing success 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CB106-FF21-42DB-B111-088E297B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SpaceX Falcon 9 landing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EE2812-8BF1-466B-973D-3C8541DC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1076325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Data Science Capstone Project 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Yifan Chen</a:t>
            </a:r>
          </a:p>
          <a:p xmlns:a="http://schemas.openxmlformats.org/drawingml/2006/main">
            <a:pPr>
              <a:defRPr sz="20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21 October 2026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https://github.com/Zeppelin567/ibm-spacex-capstone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0DA4B-D40E-49C2-B15B-3A6897F3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IBM Skills Network course snapshots, accessed 21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6EEC1-1CFA-443A-B43D-E09E9D18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35289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02E66-009A-40D2-8AF3-E09D48B1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3891A-69B2-47DD-A9D3-B7DC4D9C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076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We analyzed API and Wikipedia snapshots with pandas and SQL, explored launch outcomes through charts, Folium and Dash, and compared four classifiers.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API sample contains 90 launches and 60 successful first-stage outcomes (66.7%). Landing rates improved over the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A decision tree led training cross-validation at 90.4%. Its held-out test accuracy was 83.3% on 18 rows. These results need validation on recent launches.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ED028F-3EB2-4823-B90D-2B36BFBC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IBM Skills Network course snapshots, accessed 21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7F5A6-165E-4BBD-80FE-FC0EAF8BF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11545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E19D2-ECBA-4A9C-8EB6-EFB8AAA8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8F7F5-4BCB-40FC-90BF-4157282D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076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Reusable first stages can influence launch economics. This project examines which observed launch characteristics relate to successful Falcon 9 first-stage landing.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task is to collect launch records, describe patterns and predict the landing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Landing success differs from mission success. The historical sample cannot directly establish launch cost or operational safety.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0B34D-CB5D-4655-A668-3DBFC1EC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IBM Skills Network course snapshots, accessed 21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A8BFB-1236-4911-9F96-3F1DB24C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407908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1A460-CB99-4DB1-811C-E6D7E306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Data sources and populations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554E32-013E-4966-A3FE-0FCCEE33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076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API analysis: 90 Falcon 9 records through 13 Nov 2020, after removing multi-core and multi-payload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Web collection: 121 numeric flight rows extracted from the lab’s specified Wikipedia revision.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SQL analysis: the separate official 101-row SpaceX CSV.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Dashboard: the official 56-row historical dashboard CSV.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Each result identifies its population. We do not combine these denominators.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498C6-A278-4EFF-A79C-A8A77BC6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IBM Skills Network course snapshots, accessed 21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E4AC7-9C6D-43C5-A6BB-DB717B66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94012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8E9AE-EB77-43EA-BDA6-24503FC7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Data collection with the SpaceX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A031B-91C1-452E-9B38-F114B783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076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1. Request the launches/past endpoint and normalize the JSON. The first static-fire date is in 2006.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2. Keep one-core, one-payload launches through 13 Nov 2020.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3. Enrich rocket, launchpad, payload and core IDs with metadata.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4. Remove Falcon 1, leaving 90 Falcon 9 records. LandingPad has 26 missing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report reproduces filtering from the frozen API response and uses the official enriched CSV.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0E9E7-D5EC-4D8F-B79D-25F496ED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7AEEB-BF6F-4F1B-B08F-51F036BA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871856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15D1D-56A0-4A53-B800-F454CD69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Data collection with web scraping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31A0D5-2866-4529-B76D-F6D1A0F4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076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Request the exact Wikipedia revision specified in the lab: oldid=1027686922.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BeautifulSoup selects wikitable launch tables, then numeric flight rows with at least nine data cells.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Extract date/time, booster, site, payload, orbit, customer and both outcomes. Strip citation markers and normalize Unicode whitespace.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saved extraction contains 121 unique flight rows. Raw HTML and extracted CSV support reproduction.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BD2BB-535B-4D05-B0E6-CFEE5049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92117-7766-4E5B-8A22-2AAA744A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349307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C9138-07CE-44CB-8C83-08FAA331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Data wrangling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6566B4-7984-45E1-BECD-257B1BF9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076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Convert dates, inspect nulls and retain explicit missing pad IDs. The course enriched snapshot already replaces missing payload mass with its mean.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Assign class 1 to True ASDS, True RTLS and True Ocean. All other first-stage outcomes receive class 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Encode Orbit, LaunchSite, LandingPad and Serial with get_dummies. The course feature matrix has 80 columns.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For modeling, fit preprocessing inside training folds. The upstream payload imputation remains a limitation.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E61BE-72A6-4178-B562-9759F652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97347-3F31-4A1F-84D5-A82DB83A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957290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AC8C1E-BFE4-43AA-B1CD-F9415067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EDA with data visualization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1DFA7-AA1B-4299-B96D-6225C170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076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Scatter plots compare flight sequence and payload mass across launch sites and orbits, with points colored by landing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Bar charts compare observed landing rates. A yearly line chart shows historical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90-row API sample contains 55 CCAFS SLC 40, 22 KSC LC 39A and 13 VAFB SLC 4E launches.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Small groups and changes in hardware over time limit site and orbit comparisons.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4D4CC-EB02-4605-B2EC-1E7DCE69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6C227-BFDD-4B95-A40D-9A8F4571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804903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F3132-8EA4-4AC0-BA64-C1BE7507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Flight sequence and launch 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5E1D3-B3EF-4C28-8E24-D7D78EF8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Successful landing outcomes become more common later in the sequence. This pattern can reflect improvements in hardware and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Site codes: 1 = CCAFS SLC 40, 2 = KSC LC 39A, 3 = VAFB SLC 4E.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Blue = class 1. Orange = class 0.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B6CD89D-73A4-4D02-B1C7-3646217AA1FE}"/>
              </a:ext>
            </a:extLst>
          </p:cNvPr>
          <p:cNvGraphicFramePr/>
          <p:nvPr/>
        </p:nvGraphicFramePr>
        <p:xfrm>
          <a:off xmlns:a="http://schemas.openxmlformats.org/drawingml/2006/main" x="5381625" y="1581150"/>
          <a:ext xmlns:a="http://schemas.openxmlformats.org/drawingml/2006/main" cx="6191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87f2a72b1842d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84143-D917-4A8A-B053-15AA1378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4017F5-374E-4DA8-B612-50EA4CE1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863933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95738A-9DE5-4289-9052-05B55887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Payload mass and launch site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7D4BA-E3CE-4CB0-B9FF-B06479D4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Payloads span a wide range at the Florida sites. Successful and unsuccessful outcomes overlap, so payload alone does not separate the classes.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Site codes: 1 = CCAFS SLC 40, 2 = KSC LC 39A, 3 = VAFB SLC 4E.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Blue = class 1. Orange = class 0.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37F47CF3-227D-4682-ABDA-0B1C53C90EA0}"/>
              </a:ext>
            </a:extLst>
          </p:cNvPr>
          <p:cNvGraphicFramePr/>
          <p:nvPr/>
        </p:nvGraphicFramePr>
        <p:xfrm>
          <a:off xmlns:a="http://schemas.openxmlformats.org/drawingml/2006/main" x="5381625" y="1581150"/>
          <a:ext xmlns:a="http://schemas.openxmlformats.org/drawingml/2006/main" cx="6191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31ac5462864387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37ADE-14D1-4AC4-B9AF-C50FDB7D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E6C0C-2EA4-4B6C-83D9-F4FA57C1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6055059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234A5-AE5B-4375-BD22-4FE39314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Flight sequence and orbit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320DF-6D96-4E2A-B75E-0463C9CF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Later VLEO flights mostly show successful landing outcomes. Orbit and launch time are associated in this sample.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Orbit codes 1-11: LEO, ISS, PO, GTO, ES-L1, SSO, HEO, MEO, VLEO, SO, GEO.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Blue = class 1. Orange = class 0.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BBFE92D7-AB4B-4904-BC83-3FAB2AE526DA}"/>
              </a:ext>
            </a:extLst>
          </p:cNvPr>
          <p:cNvGraphicFramePr/>
          <p:nvPr/>
        </p:nvGraphicFramePr>
        <p:xfrm>
          <a:off xmlns:a="http://schemas.openxmlformats.org/drawingml/2006/main" x="5381625" y="1581150"/>
          <a:ext xmlns:a="http://schemas.openxmlformats.org/drawingml/2006/main" cx="6191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01c617e44084742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3433C-A363-4EAE-BD12-BA11C377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0256EB-F2F9-4C84-BD42-5D991E08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560860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F6687-1E1D-438A-8C41-D1A7786E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Payload mass and orbit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34851-3A53-4C27-9EB6-57232389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Payload distributions differ across orbit groups. GTO includes both classes over a broad mass range.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Orbit codes follow first appearance in the dataset: LEO, ISS, PO, GTO, ES-L1, SSO, HEO, MEO, VLEO, SO, GEO.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Blue = class 1. Orange = class 0.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A2AE4282-132D-4680-BA04-6BED6923AB1F}"/>
              </a:ext>
            </a:extLst>
          </p:cNvPr>
          <p:cNvGraphicFramePr/>
          <p:nvPr/>
        </p:nvGraphicFramePr>
        <p:xfrm>
          <a:off xmlns:a="http://schemas.openxmlformats.org/drawingml/2006/main" x="5381625" y="1581150"/>
          <a:ext xmlns:a="http://schemas.openxmlformats.org/drawingml/2006/main" cx="6191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684435b7661482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F4D0F6-B9B3-4AE5-AFDF-97A381C6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AEA37-CDD9-4938-A8BE-8A6E6F57E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51740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B0945-09F6-4957-B393-B16C85C8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Landing success by orbit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D5F07-1AD1-4A5A-A321-5EF6E759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VLEO: 85.7% across 14 launches.</a:t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ISS: 61.9% across 21 launches.</a:t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GTO: 51.9% across 27 launches.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Several groups have 100% success but only one observation. SSO has five. These groups do not establish a reliable ranking.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E587552-35E9-41E2-A17D-674CE1E02D84}"/>
              </a:ext>
            </a:extLst>
          </p:cNvPr>
          <p:cNvGraphicFramePr/>
          <p:nvPr/>
        </p:nvGraphicFramePr>
        <p:xfrm>
          <a:off xmlns:a="http://schemas.openxmlformats.org/drawingml/2006/main" x="5381625" y="1581150"/>
          <a:ext xmlns:a="http://schemas.openxmlformats.org/drawingml/2006/main" cx="6191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2d20e5dc2d400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854738-CD03-461D-A9B0-38B103E5C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6010DA-2C3B-4805-870D-ED5CEE15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54591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47FC06-CF9D-4B8E-8CB8-784921E9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Yearly landing trend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957F2-3CF2-4F6D-B5FB-C8AD3A4C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observed rate rose from zero in early years to 90.0% in 2019 and 84.2% in 2020.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change is uneven: 2018 had 11 successes in 18 launches.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Yearly sample sizes vary. The 2020 sample stops on 13 Nov. This pattern supports further study of time and hardware effects.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B02CB1B3-FF79-4435-9EC6-92D0D2C081B2}"/>
              </a:ext>
            </a:extLst>
          </p:cNvPr>
          <p:cNvGraphicFramePr/>
          <p:nvPr/>
        </p:nvGraphicFramePr>
        <p:xfrm>
          <a:off xmlns:a="http://schemas.openxmlformats.org/drawingml/2006/main" x="5381625" y="1581150"/>
          <a:ext xmlns:a="http://schemas.openxmlformats.org/drawingml/2006/main" cx="6191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7d5deeacb34c6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92330-221F-419F-AC58-453183EB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F100A-3CAC-4617-B41E-A5871017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917886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BAE08-8CBC-4FB2-A1BB-801F124D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EDA with SQL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CB47B-58B1-4697-BD07-BE03B9BC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076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Load the official Spacex.csv into SQLite and trim string whitespace.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Use DISTINCT and LIKE for site queries, SUM and AVG for payloads, MIN for the first ground landing, and a subquery for maximum payload.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GROUP BY summarizes mission outcomes. Date filters and descending counts support temporal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All 11 executed queries and their result tables appear in the notebook.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1B04B-314F-4292-A91A-112C3437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2B25B-CEE5-4B25-83CC-DE958AE0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7778708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C107B-2241-43D8-B5AA-F2C86BCD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SQL results: launch sites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C7E95E-D438-4286-ABA2-DDE3AA00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SQL snapshot retains four historical site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LIKE 'CCA%' query returns the first five Cape Canaveral records. Its earliest listed date is 4 Jun 2010.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Historical LC-40 and SLC-40 labels remain separate here, as in the source.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AC9863-A14C-412A-AEE6-828BB2E328ED}"/>
              </a:ext>
            </a:extLst>
          </p:cNvPr>
          <p:cNvGraphicFramePr/>
          <p:nvPr/>
        </p:nvGraphicFramePr>
        <p:xfrm>
          <a:off xmlns:a="http://schemas.openxmlformats.org/drawingml/2006/main" x="5619750" y="1619250"/>
          <a:ext xmlns:a="http://schemas.openxmlformats.org/drawingml/2006/main" cx="59055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52750"/>
                <a:gridCol w="2952750"/>
              </a:tblGrid>
              <a:tr h="781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Launch site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T w="9525">
                      <a:solidFill>
                        <a:srgbClr val="D5E0E8"/>
                      </a:solidFill>
                    </a:lnT>
                    <a:lnB w="9525">
                      <a:solidFill>
                        <a:srgbClr val="D5E0E8"/>
                      </a:solidFill>
                    </a:lnB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T w="9525">
                      <a:solidFill>
                        <a:srgbClr val="D5E0E8"/>
                      </a:solidFill>
                    </a:lnT>
                    <a:lnB w="9525">
                      <a:solidFill>
                        <a:srgbClr val="D5E0E8"/>
                      </a:solidFill>
                    </a:lnB>
                    <a:solidFill>
                      <a:srgbClr val="19324D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CCAFS LC-40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26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CCAFS SLC-40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34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KSC LC-39A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VAFB SLC-4E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45DB87-ECE5-4DA7-8E01-E53CE504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B93CF-7EEF-453D-B267-2069224F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542415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9374A-A156-4AEB-93A4-3FA0C654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SQL results: payload and first landing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B1105-D63F-4AB1-81F1-F295B52B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076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NASA (CRS) payload total: 45,596 kg.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Average payload for F9 v1.1 boosters: 2,534.67 kg.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First successful ground-pad landing in the supplied SQL data: 22 Dec 2015.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These values come from SUM, AVG and MIN queries, with customer, booster and landing-outcome filters.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5C6DD-7D68-4D22-8E89-8B18BD3C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C42B8-2B6C-4771-95A5-D4393B42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3944624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07A02F-C8D5-44E4-BC67-7FE8CD79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SQL results: drone-ship payload filter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FEA36-3B41-451A-A903-EED6FEAD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Four booster records have successful drone-ship landings and payload mass strictly greater than 4,000 kg and strictly less than 6,000 kg.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filter uses the explicit historical label Success (drone ship). Later generic Success labels remain outside this query.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EC5A7-FA81-4DCF-89E0-A4D85DB86302}"/>
              </a:ext>
            </a:extLst>
          </p:cNvPr>
          <p:cNvGraphicFramePr/>
          <p:nvPr/>
        </p:nvGraphicFramePr>
        <p:xfrm>
          <a:off xmlns:a="http://schemas.openxmlformats.org/drawingml/2006/main" x="5619750" y="1619250"/>
          <a:ext xmlns:a="http://schemas.openxmlformats.org/drawingml/2006/main" cx="59055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52750"/>
                <a:gridCol w="2952750"/>
              </a:tblGrid>
              <a:tr h="781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Booster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T w="9525">
                      <a:solidFill>
                        <a:srgbClr val="D5E0E8"/>
                      </a:solidFill>
                    </a:lnT>
                    <a:lnB w="9525">
                      <a:solidFill>
                        <a:srgbClr val="D5E0E8"/>
                      </a:solidFill>
                    </a:lnB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Payload (kg)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T w="9525">
                      <a:solidFill>
                        <a:srgbClr val="D5E0E8"/>
                      </a:solidFill>
                    </a:lnT>
                    <a:lnB w="9525">
                      <a:solidFill>
                        <a:srgbClr val="D5E0E8"/>
                      </a:solidFill>
                    </a:lnB>
                    <a:solidFill>
                      <a:srgbClr val="19324D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FT B1022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4696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FT B1026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4600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FT  B1021.2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5300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FT  B1031.2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5200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7989F-07AF-4F9C-8602-3DBFAEE8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1B65F-66BC-4ABC-A126-58E24C1B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597136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36E1B6-1993-462E-80FF-FB2C4CE2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SQL results: mission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72FF0A-F4C1-4398-9EF4-D32706CF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101-row SQL dataset contains 99 ordinary successes, one success with unclear payload status and one in-flight failure.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These are mission outcomes. They cannot substitute for the first-stage landing class used by the predictive model.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122A1-9362-4AA6-99A4-DB1553C73D65}"/>
              </a:ext>
            </a:extLst>
          </p:cNvPr>
          <p:cNvGraphicFramePr/>
          <p:nvPr/>
        </p:nvGraphicFramePr>
        <p:xfrm>
          <a:off xmlns:a="http://schemas.openxmlformats.org/drawingml/2006/main" x="5619750" y="1619250"/>
          <a:ext xmlns:a="http://schemas.openxmlformats.org/drawingml/2006/main" cx="59055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52750"/>
                <a:gridCol w="2952750"/>
              </a:tblGrid>
              <a:tr h="97631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Mission outcome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T w="9525">
                      <a:solidFill>
                        <a:srgbClr val="D5E0E8"/>
                      </a:solidFill>
                    </a:lnT>
                    <a:lnB w="9525">
                      <a:solidFill>
                        <a:srgbClr val="D5E0E8"/>
                      </a:solidFill>
                    </a:lnB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T w="9525">
                      <a:solidFill>
                        <a:srgbClr val="D5E0E8"/>
                      </a:solidFill>
                    </a:lnT>
                    <a:lnB w="9525">
                      <a:solidFill>
                        <a:srgbClr val="D5E0E8"/>
                      </a:solidFill>
                    </a:lnB>
                    <a:solidFill>
                      <a:srgbClr val="19324D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Failure (in flight)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Success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99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Success (payload status unclear)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96D84-596C-4728-A56B-30859545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547F2-25F8-4C89-BAA8-49BA0D74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3052921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99AED7-D8DE-4387-99A1-035C2918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SQL results: maximum payload boosters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9D231-684C-448E-BDE9-FC0A637C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maximum payload mass is 15,600 kg. Twelve records share that maximum.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subquery compares each record with SELECT MAX(PAYLOAD_MASS__KG_). All matching boosters appear at right.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A36AC-2933-4E53-96A8-FD78E94EACFB}"/>
              </a:ext>
            </a:extLst>
          </p:cNvPr>
          <p:cNvGraphicFramePr/>
          <p:nvPr/>
        </p:nvGraphicFramePr>
        <p:xfrm>
          <a:off xmlns:a="http://schemas.openxmlformats.org/drawingml/2006/main" x="5619750" y="1619250"/>
          <a:ext xmlns:a="http://schemas.openxmlformats.org/drawingml/2006/main" cx="59055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52750"/>
                <a:gridCol w="2952750"/>
              </a:tblGrid>
              <a:tr h="3004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Booster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T w="9525">
                      <a:solidFill>
                        <a:srgbClr val="D5E0E8"/>
                      </a:solidFill>
                    </a:lnT>
                    <a:lnB w="9525">
                      <a:solidFill>
                        <a:srgbClr val="D5E0E8"/>
                      </a:solidFill>
                    </a:lnB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Payload (kg)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T w="9525">
                      <a:solidFill>
                        <a:srgbClr val="D5E0E8"/>
                      </a:solidFill>
                    </a:lnT>
                    <a:lnB w="9525">
                      <a:solidFill>
                        <a:srgbClr val="D5E0E8"/>
                      </a:solidFill>
                    </a:lnB>
                    <a:solidFill>
                      <a:srgbClr val="19324D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B5 B1048.4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B5 B1049.4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B5 B1051.3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B5 B1056.4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B5 B1048.5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B5 B1051.4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B5 B1049.5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B5 B1060.2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B5 B1058.3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B5 B1051.6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B5 B1060.3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40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F9 B5 B1049.7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15600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E9B00-20D0-4634-A81D-7B3B6BF2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9058F-D244-4E43-8D66-A311B275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61055748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E36DA-EFEF-4D08-94EB-59C1F137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SQL results: failures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51583-A50B-468B-9348-85EEB4AF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explicit drone-ship failures in 2015 occur in January and April, both at CCAFS LC-40.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January: F9 v1.1 B1012.</a:t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April: F9 v1.1 B1015.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table ranks landing outcomes between 4 Jun 2010 and 20 Mar 2017, inclusive. No attempt is the largest group.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59712-AC13-4C5B-8EF9-48BF4DB489BB}"/>
              </a:ext>
            </a:extLst>
          </p:cNvPr>
          <p:cNvGraphicFramePr/>
          <p:nvPr/>
        </p:nvGraphicFramePr>
        <p:xfrm>
          <a:off xmlns:a="http://schemas.openxmlformats.org/drawingml/2006/main" x="5619750" y="1619250"/>
          <a:ext xmlns:a="http://schemas.openxmlformats.org/drawingml/2006/main" cx="59055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52750"/>
                <a:gridCol w="2952750"/>
              </a:tblGrid>
              <a:tr h="433917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Landing outcome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T w="9525">
                      <a:solidFill>
                        <a:srgbClr val="D5E0E8"/>
                      </a:solidFill>
                    </a:lnT>
                    <a:lnB w="9525">
                      <a:solidFill>
                        <a:srgbClr val="D5E0E8"/>
                      </a:solidFill>
                    </a:lnB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T w="9525">
                      <a:solidFill>
                        <a:srgbClr val="D5E0E8"/>
                      </a:solidFill>
                    </a:lnT>
                    <a:lnB w="9525">
                      <a:solidFill>
                        <a:srgbClr val="D5E0E8"/>
                      </a:solidFill>
                    </a:lnB>
                    <a:solidFill>
                      <a:srgbClr val="19324D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No attempt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Success (drone ship)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Failure (drone ship)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Success (ground pad)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Controlled (ocean)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Uncontrolled (ocean)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Failure (parachute)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3917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Precluded (drone ship)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FD585-D956-49CA-8079-98A5C79B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61C97-1A83-49AD-B7A0-C6937902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3220777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7C8AC-A596-4A9E-A521-5E99861F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Interactive visual analytics with Folium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A72AC-6EC0-4638-85E7-30D61E3C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Site markers locate the three API launch sites on the US coasts. Clusters aggregate 90 launch records at shared coordinates.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Hover and popup text identify sites. Cluster markers prevent repeated coordinates from hiding all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map uses OpenStreetMap tiles and the coordinates in the official dataset.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12EF37-58A2-4391-9BD4-0ABC7C26D3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81e9252c2430a"/>
          <a:stretch xmlns:a="http://schemas.openxmlformats.org/drawingml/2006/main"/>
        </p:blipFill>
        <p:spPr>
          <a:xfrm xmlns:a="http://schemas.openxmlformats.org/drawingml/2006/main">
            <a:off x="5334000" y="1992879"/>
            <a:ext cx="6286500" cy="320561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7F182-F5B0-4227-B99D-8EBB4685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4EE4D5-FFE1-4BA8-864C-FC1D66A8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5614800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EECFF-5753-4A89-BC96-290760EB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Folium launch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BD21B-177C-4397-BE64-C372EEA9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Clicking the CCAFS cluster expands its 55 launch records. Green icons mark successful first-stage outcomes and red icons mark the other class.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expanded icons spread around their shared launch location for readability. Their displayed offsets are artificial.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A hover tooltip identifies each flight and outcome.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D1882D-F4C7-4B52-87E4-3424508AF2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52a9bde264980"/>
          <a:stretch xmlns:a="http://schemas.openxmlformats.org/drawingml/2006/main"/>
        </p:blipFill>
        <p:spPr>
          <a:xfrm xmlns:a="http://schemas.openxmlformats.org/drawingml/2006/main">
            <a:off x="5334000" y="1992879"/>
            <a:ext cx="6286500" cy="320561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8F76B-7FF8-47F1-8EE6-F6492866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10DE2-71FA-4929-82EA-62D8A59F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79616197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0C1AE-1E9C-4775-9E6D-C610093D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Folium proximity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F2B581-E07C-4444-8216-9D773917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CCAFS SLC 40 inset connects the launchpad to two approximate points selected from the basemap.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Coastline point: about 0.937 km.</a:t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Nearby road point: about 0.182 km.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Geodesic distances illustrate proximity to coast and access infrastructure. They are not surveyed distances or safety-clearance estimates.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A12475-8300-4EDA-ABB4-10F1493AC0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19914398e43b6"/>
          <a:stretch xmlns:a="http://schemas.openxmlformats.org/drawingml/2006/main"/>
        </p:blipFill>
        <p:spPr>
          <a:xfrm xmlns:a="http://schemas.openxmlformats.org/drawingml/2006/main">
            <a:off x="5334000" y="1992879"/>
            <a:ext cx="6286500" cy="320561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88086-B8E3-4AE4-8AA9-11A1129B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C913D-463E-429B-811A-59C1BA70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7255496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545E1-1ECF-4472-92B0-3099ABFA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Interactive visual analytics with Dash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D3E9D-B1A3-4BAD-B72E-FF965508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076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56-row dashboard snapshot supplies four historical site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A searchable dropdown selects all sites or one site. The pie chart switches between successful-launch counts by site and outcome counts within one site.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A payload range slider filters the scatter plot. Point colors identify booster versions. Two callback inputs update the figure.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Both controls were exercised in the running local application.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F07C32-C301-4D11-9F9B-B73809F1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https://github.com/Zeppelin567/ibm-spacex-capstone/blob/main/spacex_dash_app.py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CD22C-B6DC-4F55-99EC-2C125E63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2599646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B33C1-24CB-40D4-819D-A5CE77B7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Dash results: all launch sites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4AB89-7398-4BEF-9D11-55F9955A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KSC LC-39A contributes the largest count of successful launches in the dashboard snapshot: 10 of 24 successes (41.7%).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CCAFS LC-40 contributes 7, VAFB SLC-4E contributes 4 and CCAFS SLC-40 contributes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full dashboard combines the pie chart, dropdown and payload scatter.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BD3E2-0B7A-409A-B115-2BEDD4E3F3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bd2c37798428d"/>
          <a:stretch xmlns:a="http://schemas.openxmlformats.org/drawingml/2006/main"/>
        </p:blipFill>
        <p:spPr>
          <a:xfrm xmlns:a="http://schemas.openxmlformats.org/drawingml/2006/main">
            <a:off x="5410933" y="1381125"/>
            <a:ext cx="6132635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3AC4B-2A7C-4C5F-9D87-ABC54053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https://github.com/Zeppelin567/ibm-spacex-capstone/blob/main/spacex_dash_app.py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9015A-9ACD-4873-97E3-B2795227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53866355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FA65F-72DE-4F08-9EEF-B0E3DE02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Dash results: KSC LC-39A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2C3B4-5289-45A5-B3D0-2B22AEC1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Selecting KSC LC-39A changes the pie to 10 successes and 3 unsuccessful launches, for a 76.9% observed success 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This is the highest site rate in the 56-row dashboard snapshot. It is separate from the 90-row API analysis.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scatter plot now contains only the selected site.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07DAD-2093-4C91-AB23-E0CCA2AE18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16e482cb3f4462"/>
          <a:stretch xmlns:a="http://schemas.openxmlformats.org/drawingml/2006/main"/>
        </p:blipFill>
        <p:spPr>
          <a:xfrm xmlns:a="http://schemas.openxmlformats.org/drawingml/2006/main">
            <a:off x="5410933" y="1381125"/>
            <a:ext cx="6132635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A342B0-F46E-4989-A463-1E9EE912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https://github.com/Zeppelin567/ibm-spacex-capstone/blob/main/spacex_dash_app.py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FBE4F-6A65-499D-BF2E-C3EE0EFD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51642869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771D7-BFFB-4AE6-8FDE-C7911D1C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Dash results: payload and booster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E7B0E-5EC0-424F-9FD9-F0830725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A 0-5,000 kg range further filters KSC LC-39A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Across all dashboard sites, 2,000-4,000 kg has the highest observed success rate among the specified 2,000 kg bins: 13/21 (61.9%). The 6,000-8,000 kg bin has 0/4.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B5 shows 1/1 success, while FT shows 16/24. The single B5 observation cannot establish superiority.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530CA-B4E7-4189-9612-6E3243BB00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cd62aaf3b4419"/>
          <a:stretch xmlns:a="http://schemas.openxmlformats.org/drawingml/2006/main"/>
        </p:blipFill>
        <p:spPr>
          <a:xfrm xmlns:a="http://schemas.openxmlformats.org/drawingml/2006/main">
            <a:off x="5410933" y="1381125"/>
            <a:ext cx="6132635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94F2D-5FA5-40D6-A236-EA84D35E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https://github.com/Zeppelin567/ibm-spacex-capstone/blob/main/spacex_dash_app.py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4D154-E9DD-4229-BD4E-8E592BF9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71398113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C5D6A-B7AD-4D34-BBC9-9D83053D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Predictive analysis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054F74-54B9-4BF8-91F7-678790E1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076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Train/test split: 72/18 rows, stratified, random_state=2.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Five-fold stratified cross-validation tunes logistic regression, SVM, a decision tree and KNN on training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Each pipeline imputes missing values, encodes categories and scales numerical features inside each fold.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Select the best mean CV accuracy, then report held-out performance. Upstream payload imputation limits evaluation. ReusedCount may reflect later reuse. Reconstruct features available at launch time before prospective prediction.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36382-8E48-4C18-8F8D-1BF29B58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C471A-8D60-4744-8EEA-4A49C6DD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84997955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A9C6E-1B2E-43FA-937D-84F7F0C3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Predictive analysis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8144F-6B9D-4C24-8F77-B659C249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decision tree has the highest mean CV accuracy: 90.4%, with a fold standard deviation of 5.2 percentage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Its selected depth is 3 and minimum leaf size is 4. Test accuracy is 83.3%, with balanced accuracy of 75.0%.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always-successful baseline is 66.7% on this test split.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B2D45-485C-4DD6-B2CD-F6F47E8732F8}"/>
              </a:ext>
            </a:extLst>
          </p:cNvPr>
          <p:cNvGraphicFramePr/>
          <p:nvPr/>
        </p:nvGraphicFramePr>
        <p:xfrm>
          <a:off xmlns:a="http://schemas.openxmlformats.org/drawingml/2006/main" x="5619750" y="1619250"/>
          <a:ext xmlns:a="http://schemas.openxmlformats.org/drawingml/2006/main" cx="5905500" cy="3905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68500"/>
                <a:gridCol w="1968500"/>
                <a:gridCol w="1968500"/>
              </a:tblGrid>
              <a:tr h="7810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T w="9525">
                      <a:solidFill>
                        <a:srgbClr val="D5E0E8"/>
                      </a:solidFill>
                    </a:lnT>
                    <a:lnB w="9525">
                      <a:solidFill>
                        <a:srgbClr val="D5E0E8"/>
                      </a:solidFill>
                    </a:lnB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CV accuracy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T w="9525">
                      <a:solidFill>
                        <a:srgbClr val="D5E0E8"/>
                      </a:solidFill>
                    </a:lnT>
                    <a:lnB w="9525">
                      <a:solidFill>
                        <a:srgbClr val="D5E0E8"/>
                      </a:solidFill>
                    </a:lnB>
                    <a:solidFill>
                      <a:srgbClr val="19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 accuracy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T w="9525">
                      <a:solidFill>
                        <a:srgbClr val="D5E0E8"/>
                      </a:solidFill>
                    </a:lnT>
                    <a:lnB w="9525">
                      <a:solidFill>
                        <a:srgbClr val="D5E0E8"/>
                      </a:solidFill>
                    </a:lnB>
                    <a:solidFill>
                      <a:srgbClr val="19324D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Decision tree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90.4%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83.3%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KNN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89.1%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66.7%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SVM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86.3%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77.8%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5E0E8"/>
                      </a:solidFill>
                    </a:lnL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83.6%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9324D"/>
                          </a:solidFill>
                          <a:latin typeface="Arial"/>
                          <a:ea typeface="Arial"/>
                          <a:cs typeface="Arial"/>
                        </a:rPr>
                        <a:t>83.3%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5E0E8"/>
                      </a:solidFill>
                    </a:lnR>
                    <a:lnB w="9525">
                      <a:solidFill>
                        <a:srgbClr val="D5E0E8"/>
                      </a:solidFill>
                    </a:lnB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747C4-F65C-48EA-B108-B30C0EA1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24269-4E5A-43AE-962F-CC26D8FD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80257211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D75F5F-4DD5-44DE-BE71-775310FF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Confusion matrix and uncertainty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C225CE-6BAB-4CC1-92C8-56F873D6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4429125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On 18 held-out rows, the tree correctly identifies 3 of 6 unsuccessful outcomes and all 12 successful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Three unsuccessful outcomes receive successful predictions. This error matters for reuse planning.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One test error changes accuracy by 5.6 percentage points. A larger chronological holdout and calibration are needed.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EF799-902C-4BEB-8758-19334B8694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d70a622d14282"/>
          <a:stretch xmlns:a="http://schemas.openxmlformats.org/drawingml/2006/main"/>
        </p:blipFill>
        <p:spPr>
          <a:xfrm xmlns:a="http://schemas.openxmlformats.org/drawingml/2006/main">
            <a:off x="6009339" y="1381125"/>
            <a:ext cx="4935822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E48C9-A140-4010-BD9A-7BABEF40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https://github.com/Zeppelin567/ibm-spacex-capstone/blob/main/SpaceX_Capstone_Analysis.ipynb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4F39E5-5B06-4522-B403-60B3C270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9177610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E0EC7-BE6F-4AEF-A977-8C77438E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Conclusion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E8C68-3D13-4771-A58F-F8331CDE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076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Observed landing success improved over time. Payload, orbit, site and hardware are associated with outcomes, but the samples do not identify causal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The decision tree provides a transparent starting point. A chronological evaluation should test whether its advantage survives changes in launch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For economic decisions, distinguish ocean landing success from recovery suitable for reuse. Add weather, mission constraints and refurbishment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Publish the reproducible notebook, data provenance, dashboard and maps together.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C99C6-3B8C-472C-B052-E3C7FEA3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IBM Skills Network course snapshots, accessed 21 Oct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7A459-BC99-497C-8FAD-406E545A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9270906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B3C7A-C518-41DF-BB95-3F581063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25" b="1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9324D"/>
                </a:solidFill>
                <a:latin typeface="Arial"/>
                <a:ea typeface="Arial"/>
                <a:cs typeface="Arial"/>
              </a:rPr>
              <a:t>Project files and 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5E012-01A6-47FE-8B94-C0EA0A493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10763250" cy="438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https://github.com/Zeppelin567/ibm-spacex-capstone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SpaceX_Capstone_Analysis.ipynb contains executed collection, wrangling, EDA, SQL, mapping and modeling.</a:t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spacex_dash_app.py runs the interactive dashboard.</a:t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CSV, JSON and HTML snapshots preserve the inputs.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9324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324D"/>
                </a:solidFill>
                <a:latin typeface="Arial"/>
                <a:ea typeface="Arial"/>
                <a:cs typeface="Arial"/>
              </a:rPr>
              <a:t>AI assistance supported preparation of the code and presentation. All reported calculations come from executed analysis.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6495F-38E3-41A4-A1E4-9C7543A8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86475"/>
            <a:ext cx="10810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Official IBM datasets and lab instructions. Wikipedia revision oldid=1027686922. Folium basemaps © OpenStreetMap contributors.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E6D71C-E05E-4733-BC0D-D9EA944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6429375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87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879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516594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2026-10-22T06:25:22.4110000Z</dcterms:created>
  <dcterms:modified xsi:type="dcterms:W3CDTF">2026-10-22T06:25:22.4110000Z</dcterms:modified>
</coreProperties>
</file>